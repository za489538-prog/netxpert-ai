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0E7DA8E-9771-4CF5-B65C-3DB449B0B75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685800" y="1143000"/>
            <a:ext cx="5482800" cy="3082680"/>
          </a:xfrm>
          <a:prstGeom prst="rect">
            <a:avLst/>
          </a:prstGeom>
          <a:ln w="0">
            <a:noFill/>
          </a:ln>
        </p:spPr>
      </p:sp>
      <p:sp>
        <p:nvSpPr>
          <p:cNvPr id="463"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64" name="PlaceHolder 3"/>
          <p:cNvSpPr>
            <a:spLocks noGrp="1"/>
          </p:cNvSpPr>
          <p:nvPr>
            <p:ph type="sldNum" idx="4"/>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BF3D1EB-3E27-486D-9B63-E2E364A71BA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685800" y="1143000"/>
            <a:ext cx="5482800" cy="3082680"/>
          </a:xfrm>
          <a:prstGeom prst="rect">
            <a:avLst/>
          </a:prstGeom>
          <a:ln w="0">
            <a:noFill/>
          </a:ln>
        </p:spPr>
      </p:sp>
      <p:sp>
        <p:nvSpPr>
          <p:cNvPr id="466"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67" name="PlaceHolder 3"/>
          <p:cNvSpPr>
            <a:spLocks noGrp="1"/>
          </p:cNvSpPr>
          <p:nvPr>
            <p:ph type="sldNum" idx="5"/>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E34514A-7858-45DB-B9A5-B10EDD7A547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685800" y="1143000"/>
            <a:ext cx="5482800" cy="3082680"/>
          </a:xfrm>
          <a:prstGeom prst="rect">
            <a:avLst/>
          </a:prstGeom>
          <a:ln w="0">
            <a:noFill/>
          </a:ln>
        </p:spPr>
      </p:sp>
      <p:sp>
        <p:nvSpPr>
          <p:cNvPr id="469"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70" name="PlaceHolder 3"/>
          <p:cNvSpPr>
            <a:spLocks noGrp="1"/>
          </p:cNvSpPr>
          <p:nvPr>
            <p:ph type="sldNum" idx="6"/>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4B7B58A-288F-40DB-B6FD-3497A430F5D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685800" y="1143000"/>
            <a:ext cx="5482800" cy="3082680"/>
          </a:xfrm>
          <a:prstGeom prst="rect">
            <a:avLst/>
          </a:prstGeom>
          <a:ln w="0">
            <a:noFill/>
          </a:ln>
        </p:spPr>
      </p:sp>
      <p:sp>
        <p:nvSpPr>
          <p:cNvPr id="472"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73" name="PlaceHolder 3"/>
          <p:cNvSpPr>
            <a:spLocks noGrp="1"/>
          </p:cNvSpPr>
          <p:nvPr>
            <p:ph type="sldNum" idx="7"/>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22DEDE1-80FF-401A-BBAC-BE3EB72C1C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685800" y="1143000"/>
            <a:ext cx="5482800" cy="3082680"/>
          </a:xfrm>
          <a:prstGeom prst="rect">
            <a:avLst/>
          </a:prstGeom>
          <a:ln w="0">
            <a:noFill/>
          </a:ln>
        </p:spPr>
      </p:sp>
      <p:sp>
        <p:nvSpPr>
          <p:cNvPr id="475"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76" name="PlaceHolder 3"/>
          <p:cNvSpPr>
            <a:spLocks noGrp="1"/>
          </p:cNvSpPr>
          <p:nvPr>
            <p:ph type="sldNum" idx="8"/>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C4E09A1-41D9-4356-AF92-D12F7D86DC1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685800" y="1143000"/>
            <a:ext cx="5482800" cy="3082680"/>
          </a:xfrm>
          <a:prstGeom prst="rect">
            <a:avLst/>
          </a:prstGeom>
          <a:ln w="0">
            <a:noFill/>
          </a:ln>
        </p:spPr>
      </p:sp>
      <p:sp>
        <p:nvSpPr>
          <p:cNvPr id="478"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79" name="PlaceHolder 3"/>
          <p:cNvSpPr>
            <a:spLocks noGrp="1"/>
          </p:cNvSpPr>
          <p:nvPr>
            <p:ph type="sldNum" idx="9"/>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9E08FEC-6B3C-4C4B-B582-2E23099753C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685800" y="1143000"/>
            <a:ext cx="5482800" cy="3082680"/>
          </a:xfrm>
          <a:prstGeom prst="rect">
            <a:avLst/>
          </a:prstGeom>
          <a:ln w="0">
            <a:noFill/>
          </a:ln>
        </p:spPr>
      </p:sp>
      <p:sp>
        <p:nvSpPr>
          <p:cNvPr id="481"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2" name="PlaceHolder 3"/>
          <p:cNvSpPr>
            <a:spLocks noGrp="1"/>
          </p:cNvSpPr>
          <p:nvPr>
            <p:ph type="sldNum" idx="10"/>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F28EFE8-F6CC-4EFE-8BEF-C7CB2D43FE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685800" y="1143000"/>
            <a:ext cx="5482800" cy="3082680"/>
          </a:xfrm>
          <a:prstGeom prst="rect">
            <a:avLst/>
          </a:prstGeom>
          <a:ln w="0">
            <a:noFill/>
          </a:ln>
        </p:spPr>
      </p:sp>
      <p:sp>
        <p:nvSpPr>
          <p:cNvPr id="484"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5" name="PlaceHolder 3"/>
          <p:cNvSpPr>
            <a:spLocks noGrp="1"/>
          </p:cNvSpPr>
          <p:nvPr>
            <p:ph type="sldNum" idx="11"/>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41FDC4E-DD66-4B79-AC1B-E64C3C335D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685800" y="1143000"/>
            <a:ext cx="5482800" cy="3082680"/>
          </a:xfrm>
          <a:prstGeom prst="rect">
            <a:avLst/>
          </a:prstGeom>
          <a:ln w="0">
            <a:noFill/>
          </a:ln>
        </p:spPr>
      </p:sp>
      <p:sp>
        <p:nvSpPr>
          <p:cNvPr id="487"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88" name="PlaceHolder 3"/>
          <p:cNvSpPr>
            <a:spLocks noGrp="1"/>
          </p:cNvSpPr>
          <p:nvPr>
            <p:ph type="sldNum" idx="12"/>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FCF57F5-3AEA-43E1-AD2D-1E4509FE89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2800" cy="3082680"/>
          </a:xfrm>
          <a:prstGeom prst="rect">
            <a:avLst/>
          </a:prstGeom>
          <a:ln w="0">
            <a:noFill/>
          </a:ln>
        </p:spPr>
      </p:sp>
      <p:sp>
        <p:nvSpPr>
          <p:cNvPr id="490"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1" name="PlaceHolder 3"/>
          <p:cNvSpPr>
            <a:spLocks noGrp="1"/>
          </p:cNvSpPr>
          <p:nvPr>
            <p:ph type="sldNum" idx="13"/>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34347A4-2E71-4092-B9AE-ADDC3478619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2800" cy="3082680"/>
          </a:xfrm>
          <a:prstGeom prst="rect">
            <a:avLst/>
          </a:prstGeom>
          <a:ln w="0">
            <a:noFill/>
          </a:ln>
        </p:spPr>
      </p:sp>
      <p:sp>
        <p:nvSpPr>
          <p:cNvPr id="493"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4" name="PlaceHolder 3"/>
          <p:cNvSpPr>
            <a:spLocks noGrp="1"/>
          </p:cNvSpPr>
          <p:nvPr>
            <p:ph type="sldNum" idx="14"/>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3E5E9DF-49D8-4A9D-950A-D69E9FA65A4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2800" cy="3082680"/>
          </a:xfrm>
          <a:prstGeom prst="rect">
            <a:avLst/>
          </a:prstGeom>
          <a:ln w="0">
            <a:noFill/>
          </a:ln>
        </p:spPr>
      </p:sp>
      <p:sp>
        <p:nvSpPr>
          <p:cNvPr id="496"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97" name="PlaceHolder 3"/>
          <p:cNvSpPr>
            <a:spLocks noGrp="1"/>
          </p:cNvSpPr>
          <p:nvPr>
            <p:ph type="sldNum" idx="15"/>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DCD0C8B-35C9-4AF1-9B5A-35452F55DE8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2800" cy="3082680"/>
          </a:xfrm>
          <a:prstGeom prst="rect">
            <a:avLst/>
          </a:prstGeom>
          <a:ln w="0">
            <a:noFill/>
          </a:ln>
        </p:spPr>
      </p:sp>
      <p:sp>
        <p:nvSpPr>
          <p:cNvPr id="499"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0" name="PlaceHolder 3"/>
          <p:cNvSpPr>
            <a:spLocks noGrp="1"/>
          </p:cNvSpPr>
          <p:nvPr>
            <p:ph type="sldNum" idx="16"/>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CC35E21-8BD9-4960-B93B-515C1C658D4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2800" cy="3082680"/>
          </a:xfrm>
          <a:prstGeom prst="rect">
            <a:avLst/>
          </a:prstGeom>
          <a:ln w="0">
            <a:noFill/>
          </a:ln>
        </p:spPr>
      </p:sp>
      <p:sp>
        <p:nvSpPr>
          <p:cNvPr id="502"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3" name="PlaceHolder 3"/>
          <p:cNvSpPr>
            <a:spLocks noGrp="1"/>
          </p:cNvSpPr>
          <p:nvPr>
            <p:ph type="sldNum" idx="17"/>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25ED9D0-1B89-4954-8C1C-87E5693497E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2800" cy="3082680"/>
          </a:xfrm>
          <a:prstGeom prst="rect">
            <a:avLst/>
          </a:prstGeom>
          <a:ln w="0">
            <a:noFill/>
          </a:ln>
        </p:spPr>
      </p:sp>
      <p:sp>
        <p:nvSpPr>
          <p:cNvPr id="505" name="PlaceHolder 2"/>
          <p:cNvSpPr>
            <a:spLocks noGrp="1"/>
          </p:cNvSpPr>
          <p:nvPr>
            <p:ph type="body"/>
          </p:nvPr>
        </p:nvSpPr>
        <p:spPr>
          <a:xfrm>
            <a:off x="685800" y="4400640"/>
            <a:ext cx="5482800" cy="359676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506" name="PlaceHolder 3"/>
          <p:cNvSpPr>
            <a:spLocks noGrp="1"/>
          </p:cNvSpPr>
          <p:nvPr>
            <p:ph type="sldNum" idx="18"/>
          </p:nvPr>
        </p:nvSpPr>
        <p:spPr>
          <a:xfrm>
            <a:off x="3884760" y="8685360"/>
            <a:ext cx="2968200" cy="45504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42B7FC8-02A6-44B1-AE3F-33DFD861AD8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8"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10" name="Image 0" descr="/home/claude/build/logo.png"/>
          <p:cNvPicPr/>
          <p:nvPr/>
        </p:nvPicPr>
        <p:blipFill>
          <a:blip r:embed="rId1"/>
          <a:stretch/>
        </p:blipFill>
        <p:spPr>
          <a:xfrm>
            <a:off x="457200" y="365760"/>
            <a:ext cx="819360" cy="663840"/>
          </a:xfrm>
          <a:prstGeom prst="rect">
            <a:avLst/>
          </a:prstGeom>
          <a:ln w="0">
            <a:noFill/>
          </a:ln>
        </p:spPr>
      </p:pic>
      <p:sp>
        <p:nvSpPr>
          <p:cNvPr id="11" name="Text 2"/>
          <p:cNvSpPr/>
          <p:nvPr/>
        </p:nvSpPr>
        <p:spPr>
          <a:xfrm>
            <a:off x="457200" y="1207080"/>
            <a:ext cx="73116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80" strike="noStrike">
                <a:solidFill>
                  <a:srgbClr val="8b1a2b"/>
                </a:solidFill>
                <a:latin typeface="Arial"/>
                <a:ea typeface="Arial"/>
              </a:rPr>
              <a:t>GRADUATION PROJECT DEFENSE   ·   ISRA UNIVERSITY   ·   2026</a:t>
            </a:r>
            <a:endParaRPr b="0" lang="en-US" sz="1100" spc="-1" strike="noStrike">
              <a:solidFill>
                <a:srgbClr val="ffffff"/>
              </a:solidFill>
              <a:latin typeface="Arial"/>
            </a:endParaRPr>
          </a:p>
        </p:txBody>
      </p:sp>
      <p:sp>
        <p:nvSpPr>
          <p:cNvPr id="12" name="Text 3"/>
          <p:cNvSpPr/>
          <p:nvPr/>
        </p:nvSpPr>
        <p:spPr>
          <a:xfrm>
            <a:off x="438840" y="1481400"/>
            <a:ext cx="8226000" cy="91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400" spc="-1" strike="noStrike">
                <a:solidFill>
                  <a:srgbClr val="ffffff"/>
                </a:solidFill>
                <a:latin typeface="Arial Black"/>
                <a:ea typeface="Arial Black"/>
              </a:rPr>
              <a:t>NetXpert AI</a:t>
            </a:r>
            <a:endParaRPr b="0" lang="en-US" sz="4400" spc="-1" strike="noStrike">
              <a:solidFill>
                <a:srgbClr val="ffffff"/>
              </a:solidFill>
              <a:latin typeface="Arial"/>
            </a:endParaRPr>
          </a:p>
        </p:txBody>
      </p:sp>
      <p:sp>
        <p:nvSpPr>
          <p:cNvPr id="13" name="Text 4"/>
          <p:cNvSpPr/>
          <p:nvPr/>
        </p:nvSpPr>
        <p:spPr>
          <a:xfrm>
            <a:off x="457200" y="2286000"/>
            <a:ext cx="7768800" cy="343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a8c4e0"/>
                </a:solidFill>
                <a:latin typeface="Arial"/>
                <a:ea typeface="Arial"/>
              </a:rPr>
              <a:t>Graduation Project Defense</a:t>
            </a:r>
            <a:endParaRPr b="0" lang="en-US" sz="1500" spc="-1" strike="noStrike">
              <a:solidFill>
                <a:srgbClr val="ffffff"/>
              </a:solidFill>
              <a:latin typeface="Arial"/>
            </a:endParaRPr>
          </a:p>
        </p:txBody>
      </p:sp>
      <p:sp>
        <p:nvSpPr>
          <p:cNvPr id="14" name="Text 5"/>
          <p:cNvSpPr/>
          <p:nvPr/>
        </p:nvSpPr>
        <p:spPr>
          <a:xfrm>
            <a:off x="457200" y="2624400"/>
            <a:ext cx="7768800" cy="307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94a3b8"/>
                </a:solidFill>
                <a:latin typeface="Arial"/>
                <a:ea typeface="Arial"/>
              </a:rPr>
              <a:t>A Learning Platform for Networking and IT Students</a:t>
            </a:r>
            <a:endParaRPr b="0" lang="en-US" sz="1200" spc="-1" strike="noStrike">
              <a:solidFill>
                <a:srgbClr val="ffffff"/>
              </a:solidFill>
              <a:latin typeface="Arial"/>
            </a:endParaRPr>
          </a:p>
        </p:txBody>
      </p:sp>
      <p:sp>
        <p:nvSpPr>
          <p:cNvPr id="15" name="Shape 6"/>
          <p:cNvSpPr/>
          <p:nvPr/>
        </p:nvSpPr>
        <p:spPr>
          <a:xfrm>
            <a:off x="457200" y="3127320"/>
            <a:ext cx="1596600" cy="307440"/>
          </a:xfrm>
          <a:prstGeom prst="roundRect">
            <a:avLst>
              <a:gd name="adj" fmla="val 50000"/>
            </a:avLst>
          </a:prstGeom>
          <a:solidFill>
            <a:srgbClr val="2a3f7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 name="Text 7"/>
          <p:cNvSpPr/>
          <p:nvPr/>
        </p:nvSpPr>
        <p:spPr>
          <a:xfrm>
            <a:off x="457200" y="3127320"/>
            <a:ext cx="159660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rial"/>
                <a:ea typeface="Arial"/>
              </a:rPr>
              <a:t>Practical Tools</a:t>
            </a:r>
            <a:endParaRPr b="0" lang="en-US" sz="1100" spc="-1" strike="noStrike">
              <a:solidFill>
                <a:srgbClr val="ffffff"/>
              </a:solidFill>
              <a:latin typeface="Arial"/>
            </a:endParaRPr>
          </a:p>
        </p:txBody>
      </p:sp>
      <p:sp>
        <p:nvSpPr>
          <p:cNvPr id="17" name="Shape 8"/>
          <p:cNvSpPr/>
          <p:nvPr/>
        </p:nvSpPr>
        <p:spPr>
          <a:xfrm>
            <a:off x="2221920" y="3127320"/>
            <a:ext cx="1413720" cy="307440"/>
          </a:xfrm>
          <a:prstGeom prst="roundRect">
            <a:avLst>
              <a:gd name="adj" fmla="val 50000"/>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Text 9"/>
          <p:cNvSpPr/>
          <p:nvPr/>
        </p:nvSpPr>
        <p:spPr>
          <a:xfrm>
            <a:off x="2221920" y="3127320"/>
            <a:ext cx="141372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rial"/>
                <a:ea typeface="Arial"/>
              </a:rPr>
              <a:t>AI Assistant</a:t>
            </a:r>
            <a:endParaRPr b="0" lang="en-US" sz="1100" spc="-1" strike="noStrike">
              <a:solidFill>
                <a:srgbClr val="ffffff"/>
              </a:solidFill>
              <a:latin typeface="Arial"/>
            </a:endParaRPr>
          </a:p>
        </p:txBody>
      </p:sp>
      <p:sp>
        <p:nvSpPr>
          <p:cNvPr id="19" name="Shape 10"/>
          <p:cNvSpPr/>
          <p:nvPr/>
        </p:nvSpPr>
        <p:spPr>
          <a:xfrm>
            <a:off x="3803760" y="3127320"/>
            <a:ext cx="1779480" cy="307440"/>
          </a:xfrm>
          <a:prstGeom prst="roundRect">
            <a:avLst>
              <a:gd name="adj" fmla="val 50000"/>
            </a:avLst>
          </a:prstGeom>
          <a:solidFill>
            <a:srgbClr val="2a3f7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 name="Text 11"/>
          <p:cNvSpPr/>
          <p:nvPr/>
        </p:nvSpPr>
        <p:spPr>
          <a:xfrm>
            <a:off x="3803760" y="3127320"/>
            <a:ext cx="177948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ffffff"/>
                </a:solidFill>
                <a:latin typeface="Arial"/>
                <a:ea typeface="Arial"/>
              </a:rPr>
              <a:t>Security by Design</a:t>
            </a:r>
            <a:endParaRPr b="0" lang="en-US" sz="1100" spc="-1" strike="noStrike">
              <a:solidFill>
                <a:srgbClr val="ffffff"/>
              </a:solidFill>
              <a:latin typeface="Arial"/>
            </a:endParaRPr>
          </a:p>
        </p:txBody>
      </p:sp>
      <p:sp>
        <p:nvSpPr>
          <p:cNvPr id="21" name="Shape 12"/>
          <p:cNvSpPr/>
          <p:nvPr/>
        </p:nvSpPr>
        <p:spPr>
          <a:xfrm>
            <a:off x="457200" y="3749040"/>
            <a:ext cx="8229600" cy="360"/>
          </a:xfrm>
          <a:prstGeom prst="line">
            <a:avLst/>
          </a:prstGeom>
          <a:ln w="9525">
            <a:solidFill>
              <a:srgbClr val="2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 name="Text 13"/>
          <p:cNvSpPr/>
          <p:nvPr/>
        </p:nvSpPr>
        <p:spPr>
          <a:xfrm>
            <a:off x="457200" y="3877200"/>
            <a:ext cx="3654000" cy="22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72" strike="noStrike">
                <a:solidFill>
                  <a:srgbClr val="64748b"/>
                </a:solidFill>
                <a:latin typeface="Arial"/>
                <a:ea typeface="Arial"/>
              </a:rPr>
              <a:t>PRESENTED BY</a:t>
            </a:r>
            <a:endParaRPr b="0" lang="en-US" sz="900" spc="-1" strike="noStrike">
              <a:solidFill>
                <a:srgbClr val="ffffff"/>
              </a:solidFill>
              <a:latin typeface="Arial"/>
            </a:endParaRPr>
          </a:p>
        </p:txBody>
      </p:sp>
      <p:sp>
        <p:nvSpPr>
          <p:cNvPr id="23" name="Text 14"/>
          <p:cNvSpPr/>
          <p:nvPr/>
        </p:nvSpPr>
        <p:spPr>
          <a:xfrm>
            <a:off x="457200" y="4087440"/>
            <a:ext cx="548280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ffffff"/>
                </a:solidFill>
                <a:latin typeface="Arial"/>
                <a:ea typeface="Arial"/>
              </a:rPr>
              <a:t>Mohammad Alrjo</a:t>
            </a:r>
            <a:endParaRPr b="0" lang="en-US" sz="1400" spc="-1" strike="noStrike">
              <a:solidFill>
                <a:srgbClr val="ffffff"/>
              </a:solidFill>
              <a:latin typeface="Arial"/>
            </a:endParaRPr>
          </a:p>
        </p:txBody>
      </p:sp>
      <p:sp>
        <p:nvSpPr>
          <p:cNvPr id="24" name="Text 15"/>
          <p:cNvSpPr/>
          <p:nvPr/>
        </p:nvSpPr>
        <p:spPr>
          <a:xfrm>
            <a:off x="457200" y="4434840"/>
            <a:ext cx="54828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a8c4e0"/>
                </a:solidFill>
                <a:latin typeface="Arial"/>
                <a:ea typeface="Arial"/>
              </a:rPr>
              <a:t>Supervisor: __________________</a:t>
            </a:r>
            <a:endParaRPr b="0" lang="en-US" sz="1200" spc="-1" strike="noStrike">
              <a:solidFill>
                <a:srgbClr val="ffffff"/>
              </a:solidFill>
              <a:latin typeface="Arial"/>
            </a:endParaRPr>
          </a:p>
        </p:txBody>
      </p:sp>
      <p:sp>
        <p:nvSpPr>
          <p:cNvPr id="25" name="Text 16"/>
          <p:cNvSpPr/>
          <p:nvPr/>
        </p:nvSpPr>
        <p:spPr>
          <a:xfrm>
            <a:off x="457200" y="4736520"/>
            <a:ext cx="54828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64748b"/>
                </a:solidFill>
                <a:latin typeface="Arial"/>
                <a:ea typeface="Arial"/>
              </a:rPr>
              <a:t>Department of IT &amp; Networking  ·  Isra University</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26"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28" name="Image 0" descr="/home/claude/build/logo.png"/>
          <p:cNvPicPr/>
          <p:nvPr/>
        </p:nvPicPr>
        <p:blipFill>
          <a:blip r:embed="rId1"/>
          <a:stretch/>
        </p:blipFill>
        <p:spPr>
          <a:xfrm>
            <a:off x="320040" y="201240"/>
            <a:ext cx="563400" cy="453600"/>
          </a:xfrm>
          <a:prstGeom prst="rect">
            <a:avLst/>
          </a:prstGeom>
          <a:ln w="0">
            <a:noFill/>
          </a:ln>
        </p:spPr>
      </p:pic>
      <p:sp>
        <p:nvSpPr>
          <p:cNvPr id="29"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30"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31"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2 / 15</a:t>
            </a:r>
            <a:endParaRPr b="0" lang="en-US" sz="1000" spc="-1" strike="noStrike">
              <a:solidFill>
                <a:srgbClr val="ffffff"/>
              </a:solidFill>
              <a:latin typeface="Arial"/>
            </a:endParaRPr>
          </a:p>
        </p:txBody>
      </p:sp>
      <p:sp>
        <p:nvSpPr>
          <p:cNvPr id="32"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Agenda</a:t>
            </a:r>
            <a:endParaRPr b="0" lang="en-US" sz="2600" spc="-1" strike="noStrike">
              <a:solidFill>
                <a:srgbClr val="ffffff"/>
              </a:solidFill>
              <a:latin typeface="Arial"/>
            </a:endParaRPr>
          </a:p>
        </p:txBody>
      </p:sp>
      <p:sp>
        <p:nvSpPr>
          <p:cNvPr id="33"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34" name="Text 7"/>
          <p:cNvSpPr/>
          <p:nvPr/>
        </p:nvSpPr>
        <p:spPr>
          <a:xfrm>
            <a:off x="457200" y="155448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3b82f6"/>
                </a:solidFill>
                <a:latin typeface="Arial Black"/>
                <a:ea typeface="Arial Black"/>
              </a:rPr>
              <a:t>01</a:t>
            </a:r>
            <a:endParaRPr b="0" lang="en-US" sz="1500" spc="-1" strike="noStrike">
              <a:solidFill>
                <a:srgbClr val="ffffff"/>
              </a:solidFill>
              <a:latin typeface="Arial"/>
            </a:endParaRPr>
          </a:p>
        </p:txBody>
      </p:sp>
      <p:sp>
        <p:nvSpPr>
          <p:cNvPr id="35" name="Text 8"/>
          <p:cNvSpPr/>
          <p:nvPr/>
        </p:nvSpPr>
        <p:spPr>
          <a:xfrm>
            <a:off x="914400" y="15728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Problem Statement</a:t>
            </a:r>
            <a:endParaRPr b="0" lang="en-US" sz="1100" spc="-1" strike="noStrike">
              <a:solidFill>
                <a:srgbClr val="ffffff"/>
              </a:solidFill>
              <a:latin typeface="Arial"/>
            </a:endParaRPr>
          </a:p>
        </p:txBody>
      </p:sp>
      <p:sp>
        <p:nvSpPr>
          <p:cNvPr id="36" name="Text 9"/>
          <p:cNvSpPr/>
          <p:nvPr/>
        </p:nvSpPr>
        <p:spPr>
          <a:xfrm>
            <a:off x="457200" y="21578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c55e"/>
                </a:solidFill>
                <a:latin typeface="Arial Black"/>
                <a:ea typeface="Arial Black"/>
              </a:rPr>
              <a:t>02</a:t>
            </a:r>
            <a:endParaRPr b="0" lang="en-US" sz="1500" spc="-1" strike="noStrike">
              <a:solidFill>
                <a:srgbClr val="ffffff"/>
              </a:solidFill>
              <a:latin typeface="Arial"/>
            </a:endParaRPr>
          </a:p>
        </p:txBody>
      </p:sp>
      <p:sp>
        <p:nvSpPr>
          <p:cNvPr id="37" name="Text 10"/>
          <p:cNvSpPr/>
          <p:nvPr/>
        </p:nvSpPr>
        <p:spPr>
          <a:xfrm>
            <a:off x="914400" y="217620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Solution &amp; Objectives</a:t>
            </a:r>
            <a:endParaRPr b="0" lang="en-US" sz="1100" spc="-1" strike="noStrike">
              <a:solidFill>
                <a:srgbClr val="ffffff"/>
              </a:solidFill>
              <a:latin typeface="Arial"/>
            </a:endParaRPr>
          </a:p>
        </p:txBody>
      </p:sp>
      <p:sp>
        <p:nvSpPr>
          <p:cNvPr id="38" name="Text 11"/>
          <p:cNvSpPr/>
          <p:nvPr/>
        </p:nvSpPr>
        <p:spPr>
          <a:xfrm>
            <a:off x="457200" y="276156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59e0b"/>
                </a:solidFill>
                <a:latin typeface="Arial Black"/>
                <a:ea typeface="Arial Black"/>
              </a:rPr>
              <a:t>03</a:t>
            </a:r>
            <a:endParaRPr b="0" lang="en-US" sz="1500" spc="-1" strike="noStrike">
              <a:solidFill>
                <a:srgbClr val="ffffff"/>
              </a:solidFill>
              <a:latin typeface="Arial"/>
            </a:endParaRPr>
          </a:p>
        </p:txBody>
      </p:sp>
      <p:sp>
        <p:nvSpPr>
          <p:cNvPr id="39" name="Text 12"/>
          <p:cNvSpPr/>
          <p:nvPr/>
        </p:nvSpPr>
        <p:spPr>
          <a:xfrm>
            <a:off x="914400" y="277992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How It Works</a:t>
            </a:r>
            <a:endParaRPr b="0" lang="en-US" sz="1100" spc="-1" strike="noStrike">
              <a:solidFill>
                <a:srgbClr val="ffffff"/>
              </a:solidFill>
              <a:latin typeface="Arial"/>
            </a:endParaRPr>
          </a:p>
        </p:txBody>
      </p:sp>
      <p:sp>
        <p:nvSpPr>
          <p:cNvPr id="40" name="Text 13"/>
          <p:cNvSpPr/>
          <p:nvPr/>
        </p:nvSpPr>
        <p:spPr>
          <a:xfrm>
            <a:off x="457200" y="336492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8b1a2b"/>
                </a:solidFill>
                <a:latin typeface="Arial Black"/>
                <a:ea typeface="Arial Black"/>
              </a:rPr>
              <a:t>04</a:t>
            </a:r>
            <a:endParaRPr b="0" lang="en-US" sz="1500" spc="-1" strike="noStrike">
              <a:solidFill>
                <a:srgbClr val="ffffff"/>
              </a:solidFill>
              <a:latin typeface="Arial"/>
            </a:endParaRPr>
          </a:p>
        </p:txBody>
      </p:sp>
      <p:sp>
        <p:nvSpPr>
          <p:cNvPr id="41" name="Text 14"/>
          <p:cNvSpPr/>
          <p:nvPr/>
        </p:nvSpPr>
        <p:spPr>
          <a:xfrm>
            <a:off x="914400" y="338328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Core Features</a:t>
            </a:r>
            <a:endParaRPr b="0" lang="en-US" sz="1100" spc="-1" strike="noStrike">
              <a:solidFill>
                <a:srgbClr val="ffffff"/>
              </a:solidFill>
              <a:latin typeface="Arial"/>
            </a:endParaRPr>
          </a:p>
        </p:txBody>
      </p:sp>
      <p:sp>
        <p:nvSpPr>
          <p:cNvPr id="42" name="Text 15"/>
          <p:cNvSpPr/>
          <p:nvPr/>
        </p:nvSpPr>
        <p:spPr>
          <a:xfrm>
            <a:off x="457200" y="39686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3b82f6"/>
                </a:solidFill>
                <a:latin typeface="Arial Black"/>
                <a:ea typeface="Arial Black"/>
              </a:rPr>
              <a:t>05</a:t>
            </a:r>
            <a:endParaRPr b="0" lang="en-US" sz="1500" spc="-1" strike="noStrike">
              <a:solidFill>
                <a:srgbClr val="ffffff"/>
              </a:solidFill>
              <a:latin typeface="Arial"/>
            </a:endParaRPr>
          </a:p>
        </p:txBody>
      </p:sp>
      <p:sp>
        <p:nvSpPr>
          <p:cNvPr id="43" name="Text 16"/>
          <p:cNvSpPr/>
          <p:nvPr/>
        </p:nvSpPr>
        <p:spPr>
          <a:xfrm>
            <a:off x="914400" y="39866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System Architecture</a:t>
            </a:r>
            <a:endParaRPr b="0" lang="en-US" sz="1100" spc="-1" strike="noStrike">
              <a:solidFill>
                <a:srgbClr val="ffffff"/>
              </a:solidFill>
              <a:latin typeface="Arial"/>
            </a:endParaRPr>
          </a:p>
        </p:txBody>
      </p:sp>
      <p:sp>
        <p:nvSpPr>
          <p:cNvPr id="44" name="Text 17"/>
          <p:cNvSpPr/>
          <p:nvPr/>
        </p:nvSpPr>
        <p:spPr>
          <a:xfrm>
            <a:off x="3337560" y="155448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c55e"/>
                </a:solidFill>
                <a:latin typeface="Arial Black"/>
                <a:ea typeface="Arial Black"/>
              </a:rPr>
              <a:t>06</a:t>
            </a:r>
            <a:endParaRPr b="0" lang="en-US" sz="1500" spc="-1" strike="noStrike">
              <a:solidFill>
                <a:srgbClr val="ffffff"/>
              </a:solidFill>
              <a:latin typeface="Arial"/>
            </a:endParaRPr>
          </a:p>
        </p:txBody>
      </p:sp>
      <p:sp>
        <p:nvSpPr>
          <p:cNvPr id="45" name="Text 18"/>
          <p:cNvSpPr/>
          <p:nvPr/>
        </p:nvSpPr>
        <p:spPr>
          <a:xfrm>
            <a:off x="3794760" y="15728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Use Case &amp; Sequence</a:t>
            </a:r>
            <a:endParaRPr b="0" lang="en-US" sz="1100" spc="-1" strike="noStrike">
              <a:solidFill>
                <a:srgbClr val="ffffff"/>
              </a:solidFill>
              <a:latin typeface="Arial"/>
            </a:endParaRPr>
          </a:p>
        </p:txBody>
      </p:sp>
      <p:sp>
        <p:nvSpPr>
          <p:cNvPr id="46" name="Text 19"/>
          <p:cNvSpPr/>
          <p:nvPr/>
        </p:nvSpPr>
        <p:spPr>
          <a:xfrm>
            <a:off x="3337560" y="21578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59e0b"/>
                </a:solidFill>
                <a:latin typeface="Arial Black"/>
                <a:ea typeface="Arial Black"/>
              </a:rPr>
              <a:t>07</a:t>
            </a:r>
            <a:endParaRPr b="0" lang="en-US" sz="1500" spc="-1" strike="noStrike">
              <a:solidFill>
                <a:srgbClr val="ffffff"/>
              </a:solidFill>
              <a:latin typeface="Arial"/>
            </a:endParaRPr>
          </a:p>
        </p:txBody>
      </p:sp>
      <p:sp>
        <p:nvSpPr>
          <p:cNvPr id="47" name="Text 20"/>
          <p:cNvSpPr/>
          <p:nvPr/>
        </p:nvSpPr>
        <p:spPr>
          <a:xfrm>
            <a:off x="3794760" y="217620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Data Flow &amp; Data Model</a:t>
            </a:r>
            <a:endParaRPr b="0" lang="en-US" sz="1100" spc="-1" strike="noStrike">
              <a:solidFill>
                <a:srgbClr val="ffffff"/>
              </a:solidFill>
              <a:latin typeface="Arial"/>
            </a:endParaRPr>
          </a:p>
        </p:txBody>
      </p:sp>
      <p:sp>
        <p:nvSpPr>
          <p:cNvPr id="48" name="Text 21"/>
          <p:cNvSpPr/>
          <p:nvPr/>
        </p:nvSpPr>
        <p:spPr>
          <a:xfrm>
            <a:off x="3337560" y="276156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8b1a2b"/>
                </a:solidFill>
                <a:latin typeface="Arial Black"/>
                <a:ea typeface="Arial Black"/>
              </a:rPr>
              <a:t>08</a:t>
            </a:r>
            <a:endParaRPr b="0" lang="en-US" sz="1500" spc="-1" strike="noStrike">
              <a:solidFill>
                <a:srgbClr val="ffffff"/>
              </a:solidFill>
              <a:latin typeface="Arial"/>
            </a:endParaRPr>
          </a:p>
        </p:txBody>
      </p:sp>
      <p:sp>
        <p:nvSpPr>
          <p:cNvPr id="49" name="Text 22"/>
          <p:cNvSpPr/>
          <p:nvPr/>
        </p:nvSpPr>
        <p:spPr>
          <a:xfrm>
            <a:off x="3794760" y="277992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Explainable Anomaly Detection</a:t>
            </a:r>
            <a:endParaRPr b="0" lang="en-US" sz="1100" spc="-1" strike="noStrike">
              <a:solidFill>
                <a:srgbClr val="ffffff"/>
              </a:solidFill>
              <a:latin typeface="Arial"/>
            </a:endParaRPr>
          </a:p>
        </p:txBody>
      </p:sp>
      <p:sp>
        <p:nvSpPr>
          <p:cNvPr id="50" name="Text 23"/>
          <p:cNvSpPr/>
          <p:nvPr/>
        </p:nvSpPr>
        <p:spPr>
          <a:xfrm>
            <a:off x="3337560" y="336492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3b82f6"/>
                </a:solidFill>
                <a:latin typeface="Arial Black"/>
                <a:ea typeface="Arial Black"/>
              </a:rPr>
              <a:t>09</a:t>
            </a:r>
            <a:endParaRPr b="0" lang="en-US" sz="1500" spc="-1" strike="noStrike">
              <a:solidFill>
                <a:srgbClr val="ffffff"/>
              </a:solidFill>
              <a:latin typeface="Arial"/>
            </a:endParaRPr>
          </a:p>
        </p:txBody>
      </p:sp>
      <p:sp>
        <p:nvSpPr>
          <p:cNvPr id="51" name="Text 24"/>
          <p:cNvSpPr/>
          <p:nvPr/>
        </p:nvSpPr>
        <p:spPr>
          <a:xfrm>
            <a:off x="3794760" y="338328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Security Engineering</a:t>
            </a:r>
            <a:endParaRPr b="0" lang="en-US" sz="1100" spc="-1" strike="noStrike">
              <a:solidFill>
                <a:srgbClr val="ffffff"/>
              </a:solidFill>
              <a:latin typeface="Arial"/>
            </a:endParaRPr>
          </a:p>
        </p:txBody>
      </p:sp>
      <p:sp>
        <p:nvSpPr>
          <p:cNvPr id="52" name="Text 25"/>
          <p:cNvSpPr/>
          <p:nvPr/>
        </p:nvSpPr>
        <p:spPr>
          <a:xfrm>
            <a:off x="3337560" y="39686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c55e"/>
                </a:solidFill>
                <a:latin typeface="Arial Black"/>
                <a:ea typeface="Arial Black"/>
              </a:rPr>
              <a:t>10</a:t>
            </a:r>
            <a:endParaRPr b="0" lang="en-US" sz="1500" spc="-1" strike="noStrike">
              <a:solidFill>
                <a:srgbClr val="ffffff"/>
              </a:solidFill>
              <a:latin typeface="Arial"/>
            </a:endParaRPr>
          </a:p>
        </p:txBody>
      </p:sp>
      <p:sp>
        <p:nvSpPr>
          <p:cNvPr id="53" name="Text 26"/>
          <p:cNvSpPr/>
          <p:nvPr/>
        </p:nvSpPr>
        <p:spPr>
          <a:xfrm>
            <a:off x="3794760" y="39866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Quality Engineering &amp; Testing</a:t>
            </a:r>
            <a:endParaRPr b="0" lang="en-US" sz="1100" spc="-1" strike="noStrike">
              <a:solidFill>
                <a:srgbClr val="ffffff"/>
              </a:solidFill>
              <a:latin typeface="Arial"/>
            </a:endParaRPr>
          </a:p>
        </p:txBody>
      </p:sp>
      <p:sp>
        <p:nvSpPr>
          <p:cNvPr id="54" name="Text 27"/>
          <p:cNvSpPr/>
          <p:nvPr/>
        </p:nvSpPr>
        <p:spPr>
          <a:xfrm>
            <a:off x="6217920" y="155448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59e0b"/>
                </a:solidFill>
                <a:latin typeface="Arial Black"/>
                <a:ea typeface="Arial Black"/>
              </a:rPr>
              <a:t>11</a:t>
            </a:r>
            <a:endParaRPr b="0" lang="en-US" sz="1500" spc="-1" strike="noStrike">
              <a:solidFill>
                <a:srgbClr val="ffffff"/>
              </a:solidFill>
              <a:latin typeface="Arial"/>
            </a:endParaRPr>
          </a:p>
        </p:txBody>
      </p:sp>
      <p:sp>
        <p:nvSpPr>
          <p:cNvPr id="55" name="Text 28"/>
          <p:cNvSpPr/>
          <p:nvPr/>
        </p:nvSpPr>
        <p:spPr>
          <a:xfrm>
            <a:off x="6675120" y="15728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Gamification &amp; Engagement</a:t>
            </a:r>
            <a:endParaRPr b="0" lang="en-US" sz="1100" spc="-1" strike="noStrike">
              <a:solidFill>
                <a:srgbClr val="ffffff"/>
              </a:solidFill>
              <a:latin typeface="Arial"/>
            </a:endParaRPr>
          </a:p>
        </p:txBody>
      </p:sp>
      <p:sp>
        <p:nvSpPr>
          <p:cNvPr id="56" name="Text 29"/>
          <p:cNvSpPr/>
          <p:nvPr/>
        </p:nvSpPr>
        <p:spPr>
          <a:xfrm>
            <a:off x="6217920" y="21578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8b1a2b"/>
                </a:solidFill>
                <a:latin typeface="Arial Black"/>
                <a:ea typeface="Arial Black"/>
              </a:rPr>
              <a:t>12</a:t>
            </a:r>
            <a:endParaRPr b="0" lang="en-US" sz="1500" spc="-1" strike="noStrike">
              <a:solidFill>
                <a:srgbClr val="ffffff"/>
              </a:solidFill>
              <a:latin typeface="Arial"/>
            </a:endParaRPr>
          </a:p>
        </p:txBody>
      </p:sp>
      <p:sp>
        <p:nvSpPr>
          <p:cNvPr id="57" name="Text 30"/>
          <p:cNvSpPr/>
          <p:nvPr/>
        </p:nvSpPr>
        <p:spPr>
          <a:xfrm>
            <a:off x="6675120" y="217620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Limitations (Slide 10)</a:t>
            </a:r>
            <a:endParaRPr b="0" lang="en-US" sz="1100" spc="-1" strike="noStrike">
              <a:solidFill>
                <a:srgbClr val="ffffff"/>
              </a:solidFill>
              <a:latin typeface="Arial"/>
            </a:endParaRPr>
          </a:p>
        </p:txBody>
      </p:sp>
      <p:sp>
        <p:nvSpPr>
          <p:cNvPr id="58" name="Text 31"/>
          <p:cNvSpPr/>
          <p:nvPr/>
        </p:nvSpPr>
        <p:spPr>
          <a:xfrm>
            <a:off x="6217920" y="276156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3b82f6"/>
                </a:solidFill>
                <a:latin typeface="Arial Black"/>
                <a:ea typeface="Arial Black"/>
              </a:rPr>
              <a:t>13</a:t>
            </a:r>
            <a:endParaRPr b="0" lang="en-US" sz="1500" spc="-1" strike="noStrike">
              <a:solidFill>
                <a:srgbClr val="ffffff"/>
              </a:solidFill>
              <a:latin typeface="Arial"/>
            </a:endParaRPr>
          </a:p>
        </p:txBody>
      </p:sp>
      <p:sp>
        <p:nvSpPr>
          <p:cNvPr id="59" name="Text 32"/>
          <p:cNvSpPr/>
          <p:nvPr/>
        </p:nvSpPr>
        <p:spPr>
          <a:xfrm>
            <a:off x="6675120" y="277992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Risk Management (Slide 11)</a:t>
            </a:r>
            <a:endParaRPr b="0" lang="en-US" sz="1100" spc="-1" strike="noStrike">
              <a:solidFill>
                <a:srgbClr val="ffffff"/>
              </a:solidFill>
              <a:latin typeface="Arial"/>
            </a:endParaRPr>
          </a:p>
        </p:txBody>
      </p:sp>
      <p:sp>
        <p:nvSpPr>
          <p:cNvPr id="60" name="Text 23"/>
          <p:cNvSpPr/>
          <p:nvPr/>
        </p:nvSpPr>
        <p:spPr>
          <a:xfrm>
            <a:off x="6217920" y="336492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3b82f6"/>
                </a:solidFill>
                <a:latin typeface="Arial Black"/>
                <a:ea typeface="Arial Black"/>
              </a:rPr>
              <a:t>14</a:t>
            </a:r>
            <a:endParaRPr b="0" lang="en-US" sz="1500" spc="-1" strike="noStrike">
              <a:solidFill>
                <a:srgbClr val="ffffff"/>
              </a:solidFill>
              <a:latin typeface="Arial"/>
            </a:endParaRPr>
          </a:p>
        </p:txBody>
      </p:sp>
      <p:sp>
        <p:nvSpPr>
          <p:cNvPr id="61" name="Text 24"/>
          <p:cNvSpPr/>
          <p:nvPr/>
        </p:nvSpPr>
        <p:spPr>
          <a:xfrm>
            <a:off x="6675120" y="338328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Technology Stack</a:t>
            </a:r>
            <a:endParaRPr b="0" lang="en-US" sz="1100" spc="-1" strike="noStrike">
              <a:solidFill>
                <a:srgbClr val="ffffff"/>
              </a:solidFill>
              <a:latin typeface="Arial"/>
            </a:endParaRPr>
          </a:p>
        </p:txBody>
      </p:sp>
      <p:sp>
        <p:nvSpPr>
          <p:cNvPr id="62" name="Text 25"/>
          <p:cNvSpPr/>
          <p:nvPr/>
        </p:nvSpPr>
        <p:spPr>
          <a:xfrm>
            <a:off x="6217920" y="3968640"/>
            <a:ext cx="49932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22c55e"/>
                </a:solidFill>
                <a:latin typeface="Arial Black"/>
                <a:ea typeface="Arial Black"/>
              </a:rPr>
              <a:t>15</a:t>
            </a:r>
            <a:endParaRPr b="0" lang="en-US" sz="1500" spc="-1" strike="noStrike">
              <a:solidFill>
                <a:srgbClr val="ffffff"/>
              </a:solidFill>
              <a:latin typeface="Arial"/>
            </a:endParaRPr>
          </a:p>
        </p:txBody>
      </p:sp>
      <p:sp>
        <p:nvSpPr>
          <p:cNvPr id="63" name="Text 26"/>
          <p:cNvSpPr/>
          <p:nvPr/>
        </p:nvSpPr>
        <p:spPr>
          <a:xfrm>
            <a:off x="6675120" y="3986640"/>
            <a:ext cx="2236680" cy="49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ffffff"/>
                </a:solidFill>
                <a:latin typeface="Arial"/>
                <a:ea typeface="Arial"/>
              </a:rPr>
              <a:t>Thank You</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64"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66" name="Image 0" descr="/home/claude/build/logo.png"/>
          <p:cNvPicPr/>
          <p:nvPr/>
        </p:nvPicPr>
        <p:blipFill>
          <a:blip r:embed="rId1"/>
          <a:stretch/>
        </p:blipFill>
        <p:spPr>
          <a:xfrm>
            <a:off x="320040" y="201240"/>
            <a:ext cx="563400" cy="453600"/>
          </a:xfrm>
          <a:prstGeom prst="rect">
            <a:avLst/>
          </a:prstGeom>
          <a:ln w="0">
            <a:noFill/>
          </a:ln>
        </p:spPr>
      </p:pic>
      <p:sp>
        <p:nvSpPr>
          <p:cNvPr id="67"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68"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69"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3 / 15</a:t>
            </a:r>
            <a:endParaRPr b="0" lang="en-US" sz="1000" spc="-1" strike="noStrike">
              <a:solidFill>
                <a:srgbClr val="ffffff"/>
              </a:solidFill>
              <a:latin typeface="Arial"/>
            </a:endParaRPr>
          </a:p>
        </p:txBody>
      </p:sp>
      <p:sp>
        <p:nvSpPr>
          <p:cNvPr id="70"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Problem Statement</a:t>
            </a:r>
            <a:endParaRPr b="0" lang="en-US" sz="2600" spc="-1" strike="noStrike">
              <a:solidFill>
                <a:srgbClr val="ffffff"/>
              </a:solidFill>
              <a:latin typeface="Arial"/>
            </a:endParaRPr>
          </a:p>
        </p:txBody>
      </p:sp>
      <p:sp>
        <p:nvSpPr>
          <p:cNvPr id="71"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72" name="Text 7"/>
          <p:cNvSpPr/>
          <p:nvPr/>
        </p:nvSpPr>
        <p:spPr>
          <a:xfrm>
            <a:off x="457200" y="1371600"/>
            <a:ext cx="82260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Students learn networking theory, but need more practice</a:t>
            </a:r>
            <a:endParaRPr b="0" lang="en-US" sz="1200" spc="-1" strike="noStrike">
              <a:solidFill>
                <a:srgbClr val="ffffff"/>
              </a:solidFill>
              <a:latin typeface="Arial"/>
            </a:endParaRPr>
          </a:p>
        </p:txBody>
      </p:sp>
      <p:sp>
        <p:nvSpPr>
          <p:cNvPr id="73" name="Shape 8"/>
          <p:cNvSpPr/>
          <p:nvPr/>
        </p:nvSpPr>
        <p:spPr>
          <a:xfrm>
            <a:off x="457200" y="1783080"/>
            <a:ext cx="39740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 name="Shape 9"/>
          <p:cNvSpPr/>
          <p:nvPr/>
        </p:nvSpPr>
        <p:spPr>
          <a:xfrm>
            <a:off x="457200" y="178308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75" name="Shape 10"/>
          <p:cNvSpPr/>
          <p:nvPr/>
        </p:nvSpPr>
        <p:spPr>
          <a:xfrm>
            <a:off x="658440" y="2020680"/>
            <a:ext cx="499320" cy="499320"/>
          </a:xfrm>
          <a:prstGeom prst="roundRect">
            <a:avLst>
              <a:gd name="adj" fmla="val 14545"/>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 name="Text 11"/>
          <p:cNvSpPr/>
          <p:nvPr/>
        </p:nvSpPr>
        <p:spPr>
          <a:xfrm>
            <a:off x="658440" y="2020680"/>
            <a:ext cx="499320" cy="49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77" name="Text 12"/>
          <p:cNvSpPr/>
          <p:nvPr/>
        </p:nvSpPr>
        <p:spPr>
          <a:xfrm>
            <a:off x="1325880" y="2020680"/>
            <a:ext cx="2968200" cy="45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Tools in Different Places</a:t>
            </a:r>
            <a:endParaRPr b="0" lang="en-US" sz="1300" spc="-1" strike="noStrike">
              <a:solidFill>
                <a:srgbClr val="ffffff"/>
              </a:solidFill>
              <a:latin typeface="Arial"/>
            </a:endParaRPr>
          </a:p>
        </p:txBody>
      </p:sp>
      <p:sp>
        <p:nvSpPr>
          <p:cNvPr id="78" name="Text 13"/>
          <p:cNvSpPr/>
          <p:nvPr/>
        </p:nvSpPr>
        <p:spPr>
          <a:xfrm>
            <a:off x="658440" y="2587680"/>
            <a:ext cx="357156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94a3b8"/>
                </a:solidFill>
                <a:latin typeface="Arial"/>
                <a:ea typeface="Arial"/>
              </a:rPr>
              <a:t>Subnet calculators, packet viewers, and terminals are often on different websites.</a:t>
            </a:r>
            <a:endParaRPr b="0" lang="en-US" sz="1050" spc="-1" strike="noStrike">
              <a:solidFill>
                <a:srgbClr val="ffffff"/>
              </a:solidFill>
              <a:latin typeface="Arial"/>
            </a:endParaRPr>
          </a:p>
        </p:txBody>
      </p:sp>
      <p:sp>
        <p:nvSpPr>
          <p:cNvPr id="79" name="Shape 14"/>
          <p:cNvSpPr/>
          <p:nvPr/>
        </p:nvSpPr>
        <p:spPr>
          <a:xfrm>
            <a:off x="4709160" y="1783080"/>
            <a:ext cx="39740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 name="Shape 15"/>
          <p:cNvSpPr/>
          <p:nvPr/>
        </p:nvSpPr>
        <p:spPr>
          <a:xfrm>
            <a:off x="4709160" y="178308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81" name="Shape 16"/>
          <p:cNvSpPr/>
          <p:nvPr/>
        </p:nvSpPr>
        <p:spPr>
          <a:xfrm>
            <a:off x="4910400" y="2020680"/>
            <a:ext cx="499320" cy="499320"/>
          </a:xfrm>
          <a:prstGeom prst="roundRect">
            <a:avLst>
              <a:gd name="adj" fmla="val 14545"/>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 name="Text 17"/>
          <p:cNvSpPr/>
          <p:nvPr/>
        </p:nvSpPr>
        <p:spPr>
          <a:xfrm>
            <a:off x="4910400" y="2020680"/>
            <a:ext cx="499320" cy="49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83" name="Text 18"/>
          <p:cNvSpPr/>
          <p:nvPr/>
        </p:nvSpPr>
        <p:spPr>
          <a:xfrm>
            <a:off x="5577840" y="2020680"/>
            <a:ext cx="2968200" cy="45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Manual and Easy to Get Wrong</a:t>
            </a:r>
            <a:endParaRPr b="0" lang="en-US" sz="1300" spc="-1" strike="noStrike">
              <a:solidFill>
                <a:srgbClr val="ffffff"/>
              </a:solidFill>
              <a:latin typeface="Arial"/>
            </a:endParaRPr>
          </a:p>
        </p:txBody>
      </p:sp>
      <p:sp>
        <p:nvSpPr>
          <p:cNvPr id="84" name="Text 19"/>
          <p:cNvSpPr/>
          <p:nvPr/>
        </p:nvSpPr>
        <p:spPr>
          <a:xfrm>
            <a:off x="4910400" y="2587680"/>
            <a:ext cx="357156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94a3b8"/>
                </a:solidFill>
                <a:latin typeface="Arial"/>
                <a:ea typeface="Arial"/>
              </a:rPr>
              <a:t>Manual subnetting and VLSM work can cause mistakes.</a:t>
            </a:r>
            <a:endParaRPr b="0" lang="en-US" sz="1050" spc="-1" strike="noStrike">
              <a:solidFill>
                <a:srgbClr val="ffffff"/>
              </a:solidFill>
              <a:latin typeface="Arial"/>
            </a:endParaRPr>
          </a:p>
        </p:txBody>
      </p:sp>
      <p:sp>
        <p:nvSpPr>
          <p:cNvPr id="85" name="Shape 20"/>
          <p:cNvSpPr/>
          <p:nvPr/>
        </p:nvSpPr>
        <p:spPr>
          <a:xfrm>
            <a:off x="457200" y="3383280"/>
            <a:ext cx="39740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 name="Shape 21"/>
          <p:cNvSpPr/>
          <p:nvPr/>
        </p:nvSpPr>
        <p:spPr>
          <a:xfrm>
            <a:off x="457200" y="338328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87" name="Shape 22"/>
          <p:cNvSpPr/>
          <p:nvPr/>
        </p:nvSpPr>
        <p:spPr>
          <a:xfrm>
            <a:off x="658440" y="3620880"/>
            <a:ext cx="499320" cy="499320"/>
          </a:xfrm>
          <a:prstGeom prst="roundRect">
            <a:avLst>
              <a:gd name="adj" fmla="val 14545"/>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8" name="Text 23"/>
          <p:cNvSpPr/>
          <p:nvPr/>
        </p:nvSpPr>
        <p:spPr>
          <a:xfrm>
            <a:off x="658440" y="3620880"/>
            <a:ext cx="499320" cy="49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X</a:t>
            </a:r>
            <a:endParaRPr b="0" lang="en-US" sz="1500" spc="-1" strike="noStrike">
              <a:solidFill>
                <a:srgbClr val="ffffff"/>
              </a:solidFill>
              <a:latin typeface="Arial"/>
            </a:endParaRPr>
          </a:p>
        </p:txBody>
      </p:sp>
      <p:sp>
        <p:nvSpPr>
          <p:cNvPr id="89" name="Text 24"/>
          <p:cNvSpPr/>
          <p:nvPr/>
        </p:nvSpPr>
        <p:spPr>
          <a:xfrm>
            <a:off x="1325880" y="3620880"/>
            <a:ext cx="2968200" cy="45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Hard to See</a:t>
            </a:r>
            <a:endParaRPr b="0" lang="en-US" sz="1300" spc="-1" strike="noStrike">
              <a:solidFill>
                <a:srgbClr val="ffffff"/>
              </a:solidFill>
              <a:latin typeface="Arial"/>
            </a:endParaRPr>
          </a:p>
        </p:txBody>
      </p:sp>
      <p:sp>
        <p:nvSpPr>
          <p:cNvPr id="90" name="Text 25"/>
          <p:cNvSpPr/>
          <p:nvPr/>
        </p:nvSpPr>
        <p:spPr>
          <a:xfrm>
            <a:off x="658440" y="4187880"/>
            <a:ext cx="357156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94a3b8"/>
                </a:solidFill>
                <a:latin typeface="Arial"/>
                <a:ea typeface="Arial"/>
              </a:rPr>
              <a:t>Dijkstra is often taught on paper, with little interactive practice.</a:t>
            </a:r>
            <a:endParaRPr b="0" lang="en-US" sz="1050" spc="-1" strike="noStrike">
              <a:solidFill>
                <a:srgbClr val="ffffff"/>
              </a:solidFill>
              <a:latin typeface="Arial"/>
            </a:endParaRPr>
          </a:p>
        </p:txBody>
      </p:sp>
      <p:sp>
        <p:nvSpPr>
          <p:cNvPr id="91" name="Shape 26"/>
          <p:cNvSpPr/>
          <p:nvPr/>
        </p:nvSpPr>
        <p:spPr>
          <a:xfrm>
            <a:off x="4709160" y="3383280"/>
            <a:ext cx="39740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 name="Shape 27"/>
          <p:cNvSpPr/>
          <p:nvPr/>
        </p:nvSpPr>
        <p:spPr>
          <a:xfrm>
            <a:off x="4709160" y="338328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93" name="Shape 28"/>
          <p:cNvSpPr/>
          <p:nvPr/>
        </p:nvSpPr>
        <p:spPr>
          <a:xfrm>
            <a:off x="4910400" y="3620880"/>
            <a:ext cx="499320" cy="499320"/>
          </a:xfrm>
          <a:prstGeom prst="roundRect">
            <a:avLst>
              <a:gd name="adj" fmla="val 14545"/>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 name="Text 29"/>
          <p:cNvSpPr/>
          <p:nvPr/>
        </p:nvSpPr>
        <p:spPr>
          <a:xfrm>
            <a:off x="4910400" y="3620880"/>
            <a:ext cx="499320" cy="49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95" name="Text 30"/>
          <p:cNvSpPr/>
          <p:nvPr/>
        </p:nvSpPr>
        <p:spPr>
          <a:xfrm>
            <a:off x="5577840" y="3620880"/>
            <a:ext cx="2968200" cy="45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Security Is Often Missed</a:t>
            </a:r>
            <a:endParaRPr b="0" lang="en-US" sz="1300" spc="-1" strike="noStrike">
              <a:solidFill>
                <a:srgbClr val="ffffff"/>
              </a:solidFill>
              <a:latin typeface="Arial"/>
            </a:endParaRPr>
          </a:p>
        </p:txBody>
      </p:sp>
      <p:sp>
        <p:nvSpPr>
          <p:cNvPr id="96" name="Text 31"/>
          <p:cNvSpPr/>
          <p:nvPr/>
        </p:nvSpPr>
        <p:spPr>
          <a:xfrm>
            <a:off x="4910400" y="4187880"/>
            <a:ext cx="357156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94a3b8"/>
                </a:solidFill>
                <a:latin typeface="Arial"/>
                <a:ea typeface="Arial"/>
              </a:rPr>
              <a:t>Students rarely see how an API key can be protected in a real app.</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97"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99" name="Image 0" descr="/home/claude/build/logo.png"/>
          <p:cNvPicPr/>
          <p:nvPr/>
        </p:nvPicPr>
        <p:blipFill>
          <a:blip r:embed="rId1"/>
          <a:stretch/>
        </p:blipFill>
        <p:spPr>
          <a:xfrm>
            <a:off x="320040" y="201240"/>
            <a:ext cx="563400" cy="453600"/>
          </a:xfrm>
          <a:prstGeom prst="rect">
            <a:avLst/>
          </a:prstGeom>
          <a:ln w="0">
            <a:noFill/>
          </a:ln>
        </p:spPr>
      </p:pic>
      <p:sp>
        <p:nvSpPr>
          <p:cNvPr id="100"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101"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102"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4 / 15</a:t>
            </a:r>
            <a:endParaRPr b="0" lang="en-US" sz="1000" spc="-1" strike="noStrike">
              <a:solidFill>
                <a:srgbClr val="ffffff"/>
              </a:solidFill>
              <a:latin typeface="Arial"/>
            </a:endParaRPr>
          </a:p>
        </p:txBody>
      </p:sp>
      <p:sp>
        <p:nvSpPr>
          <p:cNvPr id="103"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Solution &amp; Objectives</a:t>
            </a:r>
            <a:endParaRPr b="0" lang="en-US" sz="2600" spc="-1" strike="noStrike">
              <a:solidFill>
                <a:srgbClr val="ffffff"/>
              </a:solidFill>
              <a:latin typeface="Arial"/>
            </a:endParaRPr>
          </a:p>
        </p:txBody>
      </p:sp>
      <p:sp>
        <p:nvSpPr>
          <p:cNvPr id="104"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105" name="Text 7"/>
          <p:cNvSpPr/>
          <p:nvPr/>
        </p:nvSpPr>
        <p:spPr>
          <a:xfrm>
            <a:off x="457200" y="1371600"/>
            <a:ext cx="82260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00" spc="-1" strike="noStrike">
                <a:solidFill>
                  <a:srgbClr val="a8c4e0"/>
                </a:solidFill>
                <a:latin typeface="Arial"/>
                <a:ea typeface="Arial"/>
              </a:rPr>
              <a:t>One platform for networking practice, secure AI help, calculators, and an interactive routing simulator.</a:t>
            </a:r>
            <a:endParaRPr b="0" lang="en-US" sz="1100" spc="-1" strike="noStrike">
              <a:solidFill>
                <a:srgbClr val="ffffff"/>
              </a:solidFill>
              <a:latin typeface="Arial"/>
            </a:endParaRPr>
          </a:p>
        </p:txBody>
      </p:sp>
      <p:sp>
        <p:nvSpPr>
          <p:cNvPr id="106" name="Shape 8"/>
          <p:cNvSpPr/>
          <p:nvPr/>
        </p:nvSpPr>
        <p:spPr>
          <a:xfrm>
            <a:off x="457200" y="1874520"/>
            <a:ext cx="8226000" cy="654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 name="Shape 9"/>
          <p:cNvSpPr/>
          <p:nvPr/>
        </p:nvSpPr>
        <p:spPr>
          <a:xfrm>
            <a:off x="621720" y="2011680"/>
            <a:ext cx="380520" cy="380520"/>
          </a:xfrm>
          <a:prstGeom prst="roundRect">
            <a:avLst>
              <a:gd name="adj" fmla="val 19048"/>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 name="Text 10"/>
          <p:cNvSpPr/>
          <p:nvPr/>
        </p:nvSpPr>
        <p:spPr>
          <a:xfrm>
            <a:off x="621720" y="2011680"/>
            <a:ext cx="38052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ffffff"/>
              </a:solidFill>
              <a:latin typeface="Arial"/>
            </a:endParaRPr>
          </a:p>
        </p:txBody>
      </p:sp>
      <p:sp>
        <p:nvSpPr>
          <p:cNvPr id="109" name="Text 11"/>
          <p:cNvSpPr/>
          <p:nvPr/>
        </p:nvSpPr>
        <p:spPr>
          <a:xfrm>
            <a:off x="1188720" y="1956960"/>
            <a:ext cx="27396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Arial"/>
                <a:ea typeface="Arial"/>
              </a:rPr>
              <a:t>Practical Tools</a:t>
            </a:r>
            <a:endParaRPr b="0" lang="en-US" sz="1250" spc="-1" strike="noStrike">
              <a:solidFill>
                <a:srgbClr val="ffffff"/>
              </a:solidFill>
              <a:latin typeface="Arial"/>
            </a:endParaRPr>
          </a:p>
        </p:txBody>
      </p:sp>
      <p:sp>
        <p:nvSpPr>
          <p:cNvPr id="110" name="Text 12"/>
          <p:cNvSpPr/>
          <p:nvPr/>
        </p:nvSpPr>
        <p:spPr>
          <a:xfrm>
            <a:off x="4069080" y="1874520"/>
            <a:ext cx="4431240" cy="654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94a3b8"/>
                </a:solidFill>
                <a:latin typeface="Arial"/>
                <a:ea typeface="Arial"/>
              </a:rPr>
              <a:t>Subnetting, IPv6, VLSM, and IP comparison — built as real logic and tested with Jest.</a:t>
            </a:r>
            <a:endParaRPr b="0" lang="en-US" sz="1050" spc="-1" strike="noStrike">
              <a:solidFill>
                <a:srgbClr val="ffffff"/>
              </a:solidFill>
              <a:latin typeface="Arial"/>
            </a:endParaRPr>
          </a:p>
        </p:txBody>
      </p:sp>
      <p:sp>
        <p:nvSpPr>
          <p:cNvPr id="111" name="Shape 13"/>
          <p:cNvSpPr/>
          <p:nvPr/>
        </p:nvSpPr>
        <p:spPr>
          <a:xfrm>
            <a:off x="457200" y="2624400"/>
            <a:ext cx="8226000" cy="654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 name="Shape 14"/>
          <p:cNvSpPr/>
          <p:nvPr/>
        </p:nvSpPr>
        <p:spPr>
          <a:xfrm>
            <a:off x="621720" y="2761560"/>
            <a:ext cx="380520" cy="380520"/>
          </a:xfrm>
          <a:prstGeom prst="roundRect">
            <a:avLst>
              <a:gd name="adj" fmla="val 19048"/>
            </a:avLst>
          </a:prstGeom>
          <a:solidFill>
            <a:srgbClr val="3b82f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 name="Text 15"/>
          <p:cNvSpPr/>
          <p:nvPr/>
        </p:nvSpPr>
        <p:spPr>
          <a:xfrm>
            <a:off x="621720" y="2761560"/>
            <a:ext cx="38052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ffffff"/>
              </a:solidFill>
              <a:latin typeface="Arial"/>
            </a:endParaRPr>
          </a:p>
        </p:txBody>
      </p:sp>
      <p:sp>
        <p:nvSpPr>
          <p:cNvPr id="114" name="Text 16"/>
          <p:cNvSpPr/>
          <p:nvPr/>
        </p:nvSpPr>
        <p:spPr>
          <a:xfrm>
            <a:off x="1188720" y="2706480"/>
            <a:ext cx="27396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Arial"/>
                <a:ea typeface="Arial"/>
              </a:rPr>
              <a:t>AI Assistance</a:t>
            </a:r>
            <a:endParaRPr b="0" lang="en-US" sz="1250" spc="-1" strike="noStrike">
              <a:solidFill>
                <a:srgbClr val="ffffff"/>
              </a:solidFill>
              <a:latin typeface="Arial"/>
            </a:endParaRPr>
          </a:p>
        </p:txBody>
      </p:sp>
      <p:sp>
        <p:nvSpPr>
          <p:cNvPr id="115" name="Text 17"/>
          <p:cNvSpPr/>
          <p:nvPr/>
        </p:nvSpPr>
        <p:spPr>
          <a:xfrm>
            <a:off x="4069080" y="2624400"/>
            <a:ext cx="4431240" cy="654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94a3b8"/>
                </a:solidFill>
                <a:latin typeface="Arial"/>
                <a:ea typeface="Arial"/>
              </a:rPr>
              <a:t>The Gemini assistant answers networking questions.</a:t>
            </a:r>
            <a:endParaRPr b="0" lang="en-US" sz="1050" spc="-1" strike="noStrike">
              <a:solidFill>
                <a:srgbClr val="ffffff"/>
              </a:solidFill>
              <a:latin typeface="Arial"/>
            </a:endParaRPr>
          </a:p>
        </p:txBody>
      </p:sp>
      <p:sp>
        <p:nvSpPr>
          <p:cNvPr id="116" name="Shape 18"/>
          <p:cNvSpPr/>
          <p:nvPr/>
        </p:nvSpPr>
        <p:spPr>
          <a:xfrm>
            <a:off x="457200" y="3374280"/>
            <a:ext cx="8226000" cy="654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 name="Shape 19"/>
          <p:cNvSpPr/>
          <p:nvPr/>
        </p:nvSpPr>
        <p:spPr>
          <a:xfrm>
            <a:off x="621720" y="3511440"/>
            <a:ext cx="380520" cy="380520"/>
          </a:xfrm>
          <a:prstGeom prst="roundRect">
            <a:avLst>
              <a:gd name="adj" fmla="val 19048"/>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 name="Text 20"/>
          <p:cNvSpPr/>
          <p:nvPr/>
        </p:nvSpPr>
        <p:spPr>
          <a:xfrm>
            <a:off x="621720" y="3511440"/>
            <a:ext cx="38052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ffffff"/>
              </a:solidFill>
              <a:latin typeface="Arial"/>
            </a:endParaRPr>
          </a:p>
        </p:txBody>
      </p:sp>
      <p:sp>
        <p:nvSpPr>
          <p:cNvPr id="119" name="Text 21"/>
          <p:cNvSpPr/>
          <p:nvPr/>
        </p:nvSpPr>
        <p:spPr>
          <a:xfrm>
            <a:off x="1188720" y="3456360"/>
            <a:ext cx="27396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Arial"/>
                <a:ea typeface="Arial"/>
              </a:rPr>
              <a:t>Security by Design</a:t>
            </a:r>
            <a:endParaRPr b="0" lang="en-US" sz="1250" spc="-1" strike="noStrike">
              <a:solidFill>
                <a:srgbClr val="ffffff"/>
              </a:solidFill>
              <a:latin typeface="Arial"/>
            </a:endParaRPr>
          </a:p>
        </p:txBody>
      </p:sp>
      <p:sp>
        <p:nvSpPr>
          <p:cNvPr id="120" name="Text 22"/>
          <p:cNvSpPr/>
          <p:nvPr/>
        </p:nvSpPr>
        <p:spPr>
          <a:xfrm>
            <a:off x="4069080" y="3374280"/>
            <a:ext cx="4431240" cy="654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94a3b8"/>
                </a:solidFill>
                <a:latin typeface="Arial"/>
                <a:ea typeface="Arial"/>
              </a:rPr>
              <a:t>The API key stays on a secure server endpoint; it never reaches the browser.</a:t>
            </a:r>
            <a:endParaRPr b="0" lang="en-US" sz="1050" spc="-1" strike="noStrike">
              <a:solidFill>
                <a:srgbClr val="ffffff"/>
              </a:solidFill>
              <a:latin typeface="Arial"/>
            </a:endParaRPr>
          </a:p>
        </p:txBody>
      </p:sp>
      <p:sp>
        <p:nvSpPr>
          <p:cNvPr id="121" name="Shape 23"/>
          <p:cNvSpPr/>
          <p:nvPr/>
        </p:nvSpPr>
        <p:spPr>
          <a:xfrm>
            <a:off x="457200" y="4123800"/>
            <a:ext cx="8226000" cy="654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 name="Shape 24"/>
          <p:cNvSpPr/>
          <p:nvPr/>
        </p:nvSpPr>
        <p:spPr>
          <a:xfrm>
            <a:off x="621720" y="4260960"/>
            <a:ext cx="380520" cy="380520"/>
          </a:xfrm>
          <a:prstGeom prst="roundRect">
            <a:avLst>
              <a:gd name="adj" fmla="val 19048"/>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3" name="Text 25"/>
          <p:cNvSpPr/>
          <p:nvPr/>
        </p:nvSpPr>
        <p:spPr>
          <a:xfrm>
            <a:off x="621720" y="4260960"/>
            <a:ext cx="380520" cy="38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4</a:t>
            </a:r>
            <a:endParaRPr b="0" lang="en-US" sz="1500" spc="-1" strike="noStrike">
              <a:solidFill>
                <a:srgbClr val="ffffff"/>
              </a:solidFill>
              <a:latin typeface="Arial"/>
            </a:endParaRPr>
          </a:p>
        </p:txBody>
      </p:sp>
      <p:sp>
        <p:nvSpPr>
          <p:cNvPr id="124" name="Text 26"/>
          <p:cNvSpPr/>
          <p:nvPr/>
        </p:nvSpPr>
        <p:spPr>
          <a:xfrm>
            <a:off x="1188720" y="4206240"/>
            <a:ext cx="27396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ffffff"/>
                </a:solidFill>
                <a:latin typeface="Arial"/>
                <a:ea typeface="Arial"/>
              </a:rPr>
              <a:t>Gamified Learning</a:t>
            </a:r>
            <a:endParaRPr b="0" lang="en-US" sz="1250" spc="-1" strike="noStrike">
              <a:solidFill>
                <a:srgbClr val="ffffff"/>
              </a:solidFill>
              <a:latin typeface="Arial"/>
            </a:endParaRPr>
          </a:p>
        </p:txBody>
      </p:sp>
      <p:sp>
        <p:nvSpPr>
          <p:cNvPr id="125" name="Text 27"/>
          <p:cNvSpPr/>
          <p:nvPr/>
        </p:nvSpPr>
        <p:spPr>
          <a:xfrm>
            <a:off x="4069080" y="4123800"/>
            <a:ext cx="4431240" cy="654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94a3b8"/>
                </a:solidFill>
                <a:latin typeface="Arial"/>
                <a:ea typeface="Arial"/>
              </a:rPr>
              <a:t>Points and badges make practice more engaging.</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126"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128" name="Image 0" descr="/home/claude/build/logo.png"/>
          <p:cNvPicPr/>
          <p:nvPr/>
        </p:nvPicPr>
        <p:blipFill>
          <a:blip r:embed="rId1"/>
          <a:stretch/>
        </p:blipFill>
        <p:spPr>
          <a:xfrm>
            <a:off x="320040" y="201240"/>
            <a:ext cx="563400" cy="453600"/>
          </a:xfrm>
          <a:prstGeom prst="rect">
            <a:avLst/>
          </a:prstGeom>
          <a:ln w="0">
            <a:noFill/>
          </a:ln>
        </p:spPr>
      </p:pic>
      <p:sp>
        <p:nvSpPr>
          <p:cNvPr id="129"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130"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131"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5 / 15</a:t>
            </a:r>
            <a:endParaRPr b="0" lang="en-US" sz="1000" spc="-1" strike="noStrike">
              <a:solidFill>
                <a:srgbClr val="ffffff"/>
              </a:solidFill>
              <a:latin typeface="Arial"/>
            </a:endParaRPr>
          </a:p>
        </p:txBody>
      </p:sp>
      <p:sp>
        <p:nvSpPr>
          <p:cNvPr id="132"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How It Works</a:t>
            </a:r>
            <a:endParaRPr b="0" lang="en-US" sz="2600" spc="-1" strike="noStrike">
              <a:solidFill>
                <a:srgbClr val="ffffff"/>
              </a:solidFill>
              <a:latin typeface="Arial"/>
            </a:endParaRPr>
          </a:p>
        </p:txBody>
      </p:sp>
      <p:sp>
        <p:nvSpPr>
          <p:cNvPr id="133"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134" name="Shape 7"/>
          <p:cNvSpPr/>
          <p:nvPr/>
        </p:nvSpPr>
        <p:spPr>
          <a:xfrm>
            <a:off x="457200" y="153612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 name="Shape 8"/>
          <p:cNvSpPr/>
          <p:nvPr/>
        </p:nvSpPr>
        <p:spPr>
          <a:xfrm>
            <a:off x="658440" y="1686960"/>
            <a:ext cx="453600" cy="453600"/>
          </a:xfrm>
          <a:prstGeom prst="roundRect">
            <a:avLst>
              <a:gd name="adj" fmla="val 16000"/>
            </a:avLst>
          </a:prstGeom>
          <a:solidFill>
            <a:srgbClr val="3b82f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6" name="Text 9"/>
          <p:cNvSpPr/>
          <p:nvPr/>
        </p:nvSpPr>
        <p:spPr>
          <a:xfrm>
            <a:off x="658440" y="168696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01</a:t>
            </a:r>
            <a:endParaRPr b="0" lang="en-US" sz="1500" spc="-1" strike="noStrike">
              <a:solidFill>
                <a:srgbClr val="ffffff"/>
              </a:solidFill>
              <a:latin typeface="Arial"/>
            </a:endParaRPr>
          </a:p>
        </p:txBody>
      </p:sp>
      <p:sp>
        <p:nvSpPr>
          <p:cNvPr id="137" name="Text 10"/>
          <p:cNvSpPr/>
          <p:nvPr/>
        </p:nvSpPr>
        <p:spPr>
          <a:xfrm>
            <a:off x="1325880" y="1627560"/>
            <a:ext cx="520848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Student Uses the App</a:t>
            </a:r>
            <a:endParaRPr b="0" lang="en-US" sz="1300" spc="-1" strike="noStrike">
              <a:solidFill>
                <a:srgbClr val="ffffff"/>
              </a:solidFill>
              <a:latin typeface="Arial"/>
            </a:endParaRPr>
          </a:p>
        </p:txBody>
      </p:sp>
      <p:sp>
        <p:nvSpPr>
          <p:cNvPr id="138" name="Text 11"/>
          <p:cNvSpPr/>
          <p:nvPr/>
        </p:nvSpPr>
        <p:spPr>
          <a:xfrm>
            <a:off x="1325880" y="1920240"/>
            <a:ext cx="5208480" cy="343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The student runs a calculator, builds a topology, or asks a question.</a:t>
            </a:r>
            <a:endParaRPr b="0" lang="en-US" sz="1000" spc="-1" strike="noStrike">
              <a:solidFill>
                <a:srgbClr val="ffffff"/>
              </a:solidFill>
              <a:latin typeface="Arial"/>
            </a:endParaRPr>
          </a:p>
        </p:txBody>
      </p:sp>
      <p:sp>
        <p:nvSpPr>
          <p:cNvPr id="139" name="Shape 12"/>
          <p:cNvSpPr/>
          <p:nvPr/>
        </p:nvSpPr>
        <p:spPr>
          <a:xfrm>
            <a:off x="457200" y="238644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 name="Shape 13"/>
          <p:cNvSpPr/>
          <p:nvPr/>
        </p:nvSpPr>
        <p:spPr>
          <a:xfrm>
            <a:off x="658440" y="2537640"/>
            <a:ext cx="453600" cy="453600"/>
          </a:xfrm>
          <a:prstGeom prst="roundRect">
            <a:avLst>
              <a:gd name="adj" fmla="val 16000"/>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 name="Text 14"/>
          <p:cNvSpPr/>
          <p:nvPr/>
        </p:nvSpPr>
        <p:spPr>
          <a:xfrm>
            <a:off x="658440" y="253764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02</a:t>
            </a:r>
            <a:endParaRPr b="0" lang="en-US" sz="1500" spc="-1" strike="noStrike">
              <a:solidFill>
                <a:srgbClr val="ffffff"/>
              </a:solidFill>
              <a:latin typeface="Arial"/>
            </a:endParaRPr>
          </a:p>
        </p:txBody>
      </p:sp>
      <p:sp>
        <p:nvSpPr>
          <p:cNvPr id="142" name="Text 15"/>
          <p:cNvSpPr/>
          <p:nvPr/>
        </p:nvSpPr>
        <p:spPr>
          <a:xfrm>
            <a:off x="1325880" y="2477880"/>
            <a:ext cx="520848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The Browser Does the Fast Work</a:t>
            </a:r>
            <a:endParaRPr b="0" lang="en-US" sz="1300" spc="-1" strike="noStrike">
              <a:solidFill>
                <a:srgbClr val="ffffff"/>
              </a:solidFill>
              <a:latin typeface="Arial"/>
            </a:endParaRPr>
          </a:p>
        </p:txBody>
      </p:sp>
      <p:sp>
        <p:nvSpPr>
          <p:cNvPr id="143" name="Text 16"/>
          <p:cNvSpPr/>
          <p:nvPr/>
        </p:nvSpPr>
        <p:spPr>
          <a:xfrm>
            <a:off x="1325880" y="2770560"/>
            <a:ext cx="5208480" cy="343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Subnetting, VLSM, IPv6, and Dijkstra run directly in tested browser modules.</a:t>
            </a:r>
            <a:endParaRPr b="0" lang="en-US" sz="1000" spc="-1" strike="noStrike">
              <a:solidFill>
                <a:srgbClr val="ffffff"/>
              </a:solidFill>
              <a:latin typeface="Arial"/>
            </a:endParaRPr>
          </a:p>
        </p:txBody>
      </p:sp>
      <p:sp>
        <p:nvSpPr>
          <p:cNvPr id="144" name="Shape 17"/>
          <p:cNvSpPr/>
          <p:nvPr/>
        </p:nvSpPr>
        <p:spPr>
          <a:xfrm>
            <a:off x="457200" y="323712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 name="Shape 18"/>
          <p:cNvSpPr/>
          <p:nvPr/>
        </p:nvSpPr>
        <p:spPr>
          <a:xfrm>
            <a:off x="457200" y="3237120"/>
            <a:ext cx="822600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46" name="Shape 19"/>
          <p:cNvSpPr/>
          <p:nvPr/>
        </p:nvSpPr>
        <p:spPr>
          <a:xfrm>
            <a:off x="658440" y="3387960"/>
            <a:ext cx="453600" cy="453600"/>
          </a:xfrm>
          <a:prstGeom prst="roundRect">
            <a:avLst>
              <a:gd name="adj" fmla="val 16000"/>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 name="Text 20"/>
          <p:cNvSpPr/>
          <p:nvPr/>
        </p:nvSpPr>
        <p:spPr>
          <a:xfrm>
            <a:off x="658440" y="338796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03</a:t>
            </a:r>
            <a:endParaRPr b="0" lang="en-US" sz="1500" spc="-1" strike="noStrike">
              <a:solidFill>
                <a:srgbClr val="ffffff"/>
              </a:solidFill>
              <a:latin typeface="Arial"/>
            </a:endParaRPr>
          </a:p>
        </p:txBody>
      </p:sp>
      <p:sp>
        <p:nvSpPr>
          <p:cNvPr id="148" name="Text 21"/>
          <p:cNvSpPr/>
          <p:nvPr/>
        </p:nvSpPr>
        <p:spPr>
          <a:xfrm>
            <a:off x="1325880" y="3328560"/>
            <a:ext cx="520848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AI Requests Go to the Backend</a:t>
            </a:r>
            <a:endParaRPr b="0" lang="en-US" sz="1300" spc="-1" strike="noStrike">
              <a:solidFill>
                <a:srgbClr val="ffffff"/>
              </a:solidFill>
              <a:latin typeface="Arial"/>
            </a:endParaRPr>
          </a:p>
        </p:txBody>
      </p:sp>
      <p:sp>
        <p:nvSpPr>
          <p:cNvPr id="149" name="Text 22"/>
          <p:cNvSpPr/>
          <p:nvPr/>
        </p:nvSpPr>
        <p:spPr>
          <a:xfrm>
            <a:off x="1325880" y="3620880"/>
            <a:ext cx="5208480" cy="343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A secure server endpoint sends the question to Gemini. The key stays on the server.</a:t>
            </a:r>
            <a:endParaRPr b="0" lang="en-US" sz="1000" spc="-1" strike="noStrike">
              <a:solidFill>
                <a:srgbClr val="ffffff"/>
              </a:solidFill>
              <a:latin typeface="Arial"/>
            </a:endParaRPr>
          </a:p>
        </p:txBody>
      </p:sp>
      <p:sp>
        <p:nvSpPr>
          <p:cNvPr id="150" name="Shape 23"/>
          <p:cNvSpPr/>
          <p:nvPr/>
        </p:nvSpPr>
        <p:spPr>
          <a:xfrm>
            <a:off x="7132320" y="3470040"/>
            <a:ext cx="1368000" cy="289080"/>
          </a:xfrm>
          <a:prstGeom prst="roundRect">
            <a:avLst>
              <a:gd name="adj" fmla="val 50000"/>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 name="Text 24"/>
          <p:cNvSpPr/>
          <p:nvPr/>
        </p:nvSpPr>
        <p:spPr>
          <a:xfrm>
            <a:off x="7132320" y="3470040"/>
            <a:ext cx="136800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 strike="noStrike">
                <a:solidFill>
                  <a:srgbClr val="ffffff"/>
                </a:solidFill>
                <a:latin typeface="Arial"/>
                <a:ea typeface="Arial"/>
              </a:rPr>
              <a:t>KEY STEP</a:t>
            </a:r>
            <a:endParaRPr b="0" lang="en-US" sz="950" spc="-1" strike="noStrike">
              <a:solidFill>
                <a:srgbClr val="ffffff"/>
              </a:solidFill>
              <a:latin typeface="Arial"/>
            </a:endParaRPr>
          </a:p>
        </p:txBody>
      </p:sp>
      <p:sp>
        <p:nvSpPr>
          <p:cNvPr id="152" name="Shape 25"/>
          <p:cNvSpPr/>
          <p:nvPr/>
        </p:nvSpPr>
        <p:spPr>
          <a:xfrm>
            <a:off x="457200" y="408744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 name="Shape 26"/>
          <p:cNvSpPr/>
          <p:nvPr/>
        </p:nvSpPr>
        <p:spPr>
          <a:xfrm>
            <a:off x="658440" y="4238280"/>
            <a:ext cx="453600" cy="453600"/>
          </a:xfrm>
          <a:prstGeom prst="roundRect">
            <a:avLst>
              <a:gd name="adj" fmla="val 16000"/>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4" name="Text 27"/>
          <p:cNvSpPr/>
          <p:nvPr/>
        </p:nvSpPr>
        <p:spPr>
          <a:xfrm>
            <a:off x="658440" y="423828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04</a:t>
            </a:r>
            <a:endParaRPr b="0" lang="en-US" sz="1500" spc="-1" strike="noStrike">
              <a:solidFill>
                <a:srgbClr val="ffffff"/>
              </a:solidFill>
              <a:latin typeface="Arial"/>
            </a:endParaRPr>
          </a:p>
        </p:txBody>
      </p:sp>
      <p:sp>
        <p:nvSpPr>
          <p:cNvPr id="155" name="Text 28"/>
          <p:cNvSpPr/>
          <p:nvPr/>
        </p:nvSpPr>
        <p:spPr>
          <a:xfrm>
            <a:off x="1325880" y="4178880"/>
            <a:ext cx="520848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Result Is Shown and Saved</a:t>
            </a:r>
            <a:endParaRPr b="0" lang="en-US" sz="1300" spc="-1" strike="noStrike">
              <a:solidFill>
                <a:srgbClr val="ffffff"/>
              </a:solidFill>
              <a:latin typeface="Arial"/>
            </a:endParaRPr>
          </a:p>
        </p:txBody>
      </p:sp>
      <p:sp>
        <p:nvSpPr>
          <p:cNvPr id="156" name="Text 29"/>
          <p:cNvSpPr/>
          <p:nvPr/>
        </p:nvSpPr>
        <p:spPr>
          <a:xfrm>
            <a:off x="1325880" y="4471560"/>
            <a:ext cx="5208480" cy="343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The answer is shown. Logged-in history goes to Firestore; gamification progress stays in browser storage.</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157"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159" name="Image 0" descr="/home/claude/build/logo.png"/>
          <p:cNvPicPr/>
          <p:nvPr/>
        </p:nvPicPr>
        <p:blipFill>
          <a:blip r:embed="rId1"/>
          <a:stretch/>
        </p:blipFill>
        <p:spPr>
          <a:xfrm>
            <a:off x="320040" y="201240"/>
            <a:ext cx="563400" cy="453600"/>
          </a:xfrm>
          <a:prstGeom prst="rect">
            <a:avLst/>
          </a:prstGeom>
          <a:ln w="0">
            <a:noFill/>
          </a:ln>
        </p:spPr>
      </p:pic>
      <p:sp>
        <p:nvSpPr>
          <p:cNvPr id="160"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161"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162"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6 / 15</a:t>
            </a:r>
            <a:endParaRPr b="0" lang="en-US" sz="1000" spc="-1" strike="noStrike">
              <a:solidFill>
                <a:srgbClr val="ffffff"/>
              </a:solidFill>
              <a:latin typeface="Arial"/>
            </a:endParaRPr>
          </a:p>
        </p:txBody>
      </p:sp>
      <p:sp>
        <p:nvSpPr>
          <p:cNvPr id="163"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Core Features</a:t>
            </a:r>
            <a:endParaRPr b="0" lang="en-US" sz="2600" spc="-1" strike="noStrike">
              <a:solidFill>
                <a:srgbClr val="ffffff"/>
              </a:solidFill>
              <a:latin typeface="Arial"/>
            </a:endParaRPr>
          </a:p>
        </p:txBody>
      </p:sp>
      <p:sp>
        <p:nvSpPr>
          <p:cNvPr id="164"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165" name="Text 7"/>
          <p:cNvSpPr/>
          <p:nvPr/>
        </p:nvSpPr>
        <p:spPr>
          <a:xfrm>
            <a:off x="457200" y="1371600"/>
            <a:ext cx="82260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Core Tools + AI Analysis + Help Guide</a:t>
            </a:r>
            <a:endParaRPr b="0" lang="en-US" sz="1200" spc="-1" strike="noStrike">
              <a:solidFill>
                <a:srgbClr val="ffffff"/>
              </a:solidFill>
              <a:latin typeface="Arial"/>
            </a:endParaRPr>
          </a:p>
        </p:txBody>
      </p:sp>
      <p:sp>
        <p:nvSpPr>
          <p:cNvPr id="166" name="Shape 8"/>
          <p:cNvSpPr/>
          <p:nvPr/>
        </p:nvSpPr>
        <p:spPr>
          <a:xfrm>
            <a:off x="457200" y="17830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 name="Shape 9"/>
          <p:cNvSpPr/>
          <p:nvPr/>
        </p:nvSpPr>
        <p:spPr>
          <a:xfrm>
            <a:off x="457200" y="1783080"/>
            <a:ext cx="19166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68" name="Text 10"/>
          <p:cNvSpPr/>
          <p:nvPr/>
        </p:nvSpPr>
        <p:spPr>
          <a:xfrm>
            <a:off x="594360" y="192924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Subnetting Calculator</a:t>
            </a:r>
            <a:endParaRPr b="0" lang="en-US" sz="1100" spc="-1" strike="noStrike">
              <a:solidFill>
                <a:srgbClr val="ffffff"/>
              </a:solidFill>
              <a:latin typeface="Arial"/>
            </a:endParaRPr>
          </a:p>
        </p:txBody>
      </p:sp>
      <p:sp>
        <p:nvSpPr>
          <p:cNvPr id="169" name="Text 11"/>
          <p:cNvSpPr/>
          <p:nvPr/>
        </p:nvSpPr>
        <p:spPr>
          <a:xfrm>
            <a:off x="594360" y="25329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Network, broadcast, mask, host range, class.</a:t>
            </a:r>
            <a:endParaRPr b="0" lang="en-US" sz="900" spc="-1" strike="noStrike">
              <a:solidFill>
                <a:srgbClr val="ffffff"/>
              </a:solidFill>
              <a:latin typeface="Arial"/>
            </a:endParaRPr>
          </a:p>
        </p:txBody>
      </p:sp>
      <p:sp>
        <p:nvSpPr>
          <p:cNvPr id="170" name="Shape 12"/>
          <p:cNvSpPr/>
          <p:nvPr/>
        </p:nvSpPr>
        <p:spPr>
          <a:xfrm>
            <a:off x="2523600" y="17830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 name="Shape 13"/>
          <p:cNvSpPr/>
          <p:nvPr/>
        </p:nvSpPr>
        <p:spPr>
          <a:xfrm>
            <a:off x="2523600" y="1783080"/>
            <a:ext cx="19166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72" name="Text 14"/>
          <p:cNvSpPr/>
          <p:nvPr/>
        </p:nvSpPr>
        <p:spPr>
          <a:xfrm>
            <a:off x="2660760" y="192924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IPv6 Support</a:t>
            </a:r>
            <a:endParaRPr b="0" lang="en-US" sz="1100" spc="-1" strike="noStrike">
              <a:solidFill>
                <a:srgbClr val="ffffff"/>
              </a:solidFill>
              <a:latin typeface="Arial"/>
            </a:endParaRPr>
          </a:p>
        </p:txBody>
      </p:sp>
      <p:sp>
        <p:nvSpPr>
          <p:cNvPr id="173" name="Text 15"/>
          <p:cNvSpPr/>
          <p:nvPr/>
        </p:nvSpPr>
        <p:spPr>
          <a:xfrm>
            <a:off x="2660760" y="25329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Auto-detects v4/v6, RFC 4291 address typing.</a:t>
            </a:r>
            <a:endParaRPr b="0" lang="en-US" sz="900" spc="-1" strike="noStrike">
              <a:solidFill>
                <a:srgbClr val="ffffff"/>
              </a:solidFill>
              <a:latin typeface="Arial"/>
            </a:endParaRPr>
          </a:p>
        </p:txBody>
      </p:sp>
      <p:sp>
        <p:nvSpPr>
          <p:cNvPr id="174" name="Shape 16"/>
          <p:cNvSpPr/>
          <p:nvPr/>
        </p:nvSpPr>
        <p:spPr>
          <a:xfrm>
            <a:off x="4590360" y="17830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 name="Shape 17"/>
          <p:cNvSpPr/>
          <p:nvPr/>
        </p:nvSpPr>
        <p:spPr>
          <a:xfrm>
            <a:off x="4590360" y="1783080"/>
            <a:ext cx="19166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176" name="Text 18"/>
          <p:cNvSpPr/>
          <p:nvPr/>
        </p:nvSpPr>
        <p:spPr>
          <a:xfrm>
            <a:off x="4727520" y="192924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VLSM Calculator</a:t>
            </a:r>
            <a:endParaRPr b="0" lang="en-US" sz="1100" spc="-1" strike="noStrike">
              <a:solidFill>
                <a:srgbClr val="ffffff"/>
              </a:solidFill>
              <a:latin typeface="Arial"/>
            </a:endParaRPr>
          </a:p>
        </p:txBody>
      </p:sp>
      <p:sp>
        <p:nvSpPr>
          <p:cNvPr id="177" name="Text 19"/>
          <p:cNvSpPr/>
          <p:nvPr/>
        </p:nvSpPr>
        <p:spPr>
          <a:xfrm>
            <a:off x="4727520" y="25329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Largest-first allocation, overflow detection.</a:t>
            </a:r>
            <a:endParaRPr b="0" lang="en-US" sz="900" spc="-1" strike="noStrike">
              <a:solidFill>
                <a:srgbClr val="ffffff"/>
              </a:solidFill>
              <a:latin typeface="Arial"/>
            </a:endParaRPr>
          </a:p>
        </p:txBody>
      </p:sp>
      <p:sp>
        <p:nvSpPr>
          <p:cNvPr id="178" name="Shape 20"/>
          <p:cNvSpPr/>
          <p:nvPr/>
        </p:nvSpPr>
        <p:spPr>
          <a:xfrm>
            <a:off x="6656760" y="17830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 name="Shape 21"/>
          <p:cNvSpPr/>
          <p:nvPr/>
        </p:nvSpPr>
        <p:spPr>
          <a:xfrm>
            <a:off x="6656760" y="1783080"/>
            <a:ext cx="19166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80" name="Text 22"/>
          <p:cNvSpPr/>
          <p:nvPr/>
        </p:nvSpPr>
        <p:spPr>
          <a:xfrm>
            <a:off x="6793920" y="192924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IP Comparison</a:t>
            </a:r>
            <a:endParaRPr b="0" lang="en-US" sz="1100" spc="-1" strike="noStrike">
              <a:solidFill>
                <a:srgbClr val="ffffff"/>
              </a:solidFill>
              <a:latin typeface="Arial"/>
            </a:endParaRPr>
          </a:p>
        </p:txBody>
      </p:sp>
      <p:sp>
        <p:nvSpPr>
          <p:cNvPr id="181" name="Text 23"/>
          <p:cNvSpPr/>
          <p:nvPr/>
        </p:nvSpPr>
        <p:spPr>
          <a:xfrm>
            <a:off x="6793920" y="25329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Same-subnet check, common-prefix bit view.</a:t>
            </a:r>
            <a:endParaRPr b="0" lang="en-US" sz="900" spc="-1" strike="noStrike">
              <a:solidFill>
                <a:srgbClr val="ffffff"/>
              </a:solidFill>
              <a:latin typeface="Arial"/>
            </a:endParaRPr>
          </a:p>
        </p:txBody>
      </p:sp>
      <p:sp>
        <p:nvSpPr>
          <p:cNvPr id="182" name="Shape 24"/>
          <p:cNvSpPr/>
          <p:nvPr/>
        </p:nvSpPr>
        <p:spPr>
          <a:xfrm>
            <a:off x="457200" y="33922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 name="Shape 25"/>
          <p:cNvSpPr/>
          <p:nvPr/>
        </p:nvSpPr>
        <p:spPr>
          <a:xfrm>
            <a:off x="457200" y="3392280"/>
            <a:ext cx="19166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84" name="Text 26"/>
          <p:cNvSpPr/>
          <p:nvPr/>
        </p:nvSpPr>
        <p:spPr>
          <a:xfrm>
            <a:off x="594360" y="353880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Interactive Dijkstra Editor</a:t>
            </a:r>
            <a:endParaRPr b="0" lang="en-US" sz="1100" spc="-1" strike="noStrike">
              <a:solidFill>
                <a:srgbClr val="ffffff"/>
              </a:solidFill>
              <a:latin typeface="Arial"/>
            </a:endParaRPr>
          </a:p>
        </p:txBody>
      </p:sp>
      <p:sp>
        <p:nvSpPr>
          <p:cNvPr id="185" name="Text 27"/>
          <p:cNvSpPr/>
          <p:nvPr/>
        </p:nvSpPr>
        <p:spPr>
          <a:xfrm>
            <a:off x="594360" y="41421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Build any topology, compute shortest path.</a:t>
            </a:r>
            <a:endParaRPr b="0" lang="en-US" sz="900" spc="-1" strike="noStrike">
              <a:solidFill>
                <a:srgbClr val="ffffff"/>
              </a:solidFill>
              <a:latin typeface="Arial"/>
            </a:endParaRPr>
          </a:p>
        </p:txBody>
      </p:sp>
      <p:sp>
        <p:nvSpPr>
          <p:cNvPr id="186" name="Shape 28"/>
          <p:cNvSpPr/>
          <p:nvPr/>
        </p:nvSpPr>
        <p:spPr>
          <a:xfrm>
            <a:off x="2523600" y="33922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 name="Shape 29"/>
          <p:cNvSpPr/>
          <p:nvPr/>
        </p:nvSpPr>
        <p:spPr>
          <a:xfrm>
            <a:off x="2523600" y="3392280"/>
            <a:ext cx="19166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88" name="Text 30"/>
          <p:cNvSpPr/>
          <p:nvPr/>
        </p:nvSpPr>
        <p:spPr>
          <a:xfrm>
            <a:off x="2660760" y="353880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Packet Analyzer</a:t>
            </a:r>
            <a:endParaRPr b="0" lang="en-US" sz="1100" spc="-1" strike="noStrike">
              <a:solidFill>
                <a:srgbClr val="ffffff"/>
              </a:solidFill>
              <a:latin typeface="Arial"/>
            </a:endParaRPr>
          </a:p>
        </p:txBody>
      </p:sp>
      <p:sp>
        <p:nvSpPr>
          <p:cNvPr id="189" name="Text 31"/>
          <p:cNvSpPr/>
          <p:nvPr/>
        </p:nvSpPr>
        <p:spPr>
          <a:xfrm>
            <a:off x="2660760" y="41421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Wireshark-style capture simulation &amp; filters.</a:t>
            </a:r>
            <a:endParaRPr b="0" lang="en-US" sz="900" spc="-1" strike="noStrike">
              <a:solidFill>
                <a:srgbClr val="ffffff"/>
              </a:solidFill>
              <a:latin typeface="Arial"/>
            </a:endParaRPr>
          </a:p>
        </p:txBody>
      </p:sp>
      <p:sp>
        <p:nvSpPr>
          <p:cNvPr id="190" name="Shape 32"/>
          <p:cNvSpPr/>
          <p:nvPr/>
        </p:nvSpPr>
        <p:spPr>
          <a:xfrm>
            <a:off x="4590360" y="33922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1" name="Shape 33"/>
          <p:cNvSpPr/>
          <p:nvPr/>
        </p:nvSpPr>
        <p:spPr>
          <a:xfrm>
            <a:off x="4590360" y="3392280"/>
            <a:ext cx="19166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192" name="Text 34"/>
          <p:cNvSpPr/>
          <p:nvPr/>
        </p:nvSpPr>
        <p:spPr>
          <a:xfrm>
            <a:off x="4727520" y="353880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Linux Terminal Simulator</a:t>
            </a:r>
            <a:endParaRPr b="0" lang="en-US" sz="1100" spc="-1" strike="noStrike">
              <a:solidFill>
                <a:srgbClr val="ffffff"/>
              </a:solidFill>
              <a:latin typeface="Arial"/>
            </a:endParaRPr>
          </a:p>
        </p:txBody>
      </p:sp>
      <p:sp>
        <p:nvSpPr>
          <p:cNvPr id="193" name="Text 35"/>
          <p:cNvSpPr/>
          <p:nvPr/>
        </p:nvSpPr>
        <p:spPr>
          <a:xfrm>
            <a:off x="4727520" y="41421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ping, traceroute, ifconfig, netstat &amp; more.</a:t>
            </a:r>
            <a:endParaRPr b="0" lang="en-US" sz="900" spc="-1" strike="noStrike">
              <a:solidFill>
                <a:srgbClr val="ffffff"/>
              </a:solidFill>
              <a:latin typeface="Arial"/>
            </a:endParaRPr>
          </a:p>
        </p:txBody>
      </p:sp>
      <p:sp>
        <p:nvSpPr>
          <p:cNvPr id="194" name="Shape 36"/>
          <p:cNvSpPr/>
          <p:nvPr/>
        </p:nvSpPr>
        <p:spPr>
          <a:xfrm>
            <a:off x="6656760" y="3392280"/>
            <a:ext cx="1916640" cy="14594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 name="Shape 37"/>
          <p:cNvSpPr/>
          <p:nvPr/>
        </p:nvSpPr>
        <p:spPr>
          <a:xfrm>
            <a:off x="6656760" y="3392280"/>
            <a:ext cx="19166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196" name="Text 38"/>
          <p:cNvSpPr/>
          <p:nvPr/>
        </p:nvSpPr>
        <p:spPr>
          <a:xfrm>
            <a:off x="6793920" y="3538800"/>
            <a:ext cx="1642320" cy="563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 strike="noStrike">
                <a:solidFill>
                  <a:srgbClr val="ffffff"/>
                </a:solidFill>
                <a:latin typeface="Arial"/>
                <a:ea typeface="Arial"/>
              </a:rPr>
              <a:t>AI Assistant</a:t>
            </a:r>
            <a:endParaRPr b="0" lang="en-US" sz="1100" spc="-1" strike="noStrike">
              <a:solidFill>
                <a:srgbClr val="ffffff"/>
              </a:solidFill>
              <a:latin typeface="Arial"/>
            </a:endParaRPr>
          </a:p>
        </p:txBody>
      </p:sp>
      <p:sp>
        <p:nvSpPr>
          <p:cNvPr id="197" name="Text 39"/>
          <p:cNvSpPr/>
          <p:nvPr/>
        </p:nvSpPr>
        <p:spPr>
          <a:xfrm>
            <a:off x="6793920" y="4142160"/>
            <a:ext cx="1642320" cy="63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94a3b8"/>
                </a:solidFill>
                <a:latin typeface="Arial"/>
                <a:ea typeface="Arial"/>
              </a:rPr>
              <a:t>Networking Q&amp;A powered by Gemini.</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198"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200" name="Image 0" descr="/home/claude/build/logo.png"/>
          <p:cNvPicPr/>
          <p:nvPr/>
        </p:nvPicPr>
        <p:blipFill>
          <a:blip r:embed="rId1"/>
          <a:stretch/>
        </p:blipFill>
        <p:spPr>
          <a:xfrm>
            <a:off x="320040" y="201240"/>
            <a:ext cx="563400" cy="453600"/>
          </a:xfrm>
          <a:prstGeom prst="rect">
            <a:avLst/>
          </a:prstGeom>
          <a:ln w="0">
            <a:noFill/>
          </a:ln>
        </p:spPr>
      </p:pic>
      <p:sp>
        <p:nvSpPr>
          <p:cNvPr id="201"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202"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203"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7 / 15</a:t>
            </a:r>
            <a:endParaRPr b="0" lang="en-US" sz="1000" spc="-1" strike="noStrike">
              <a:solidFill>
                <a:srgbClr val="ffffff"/>
              </a:solidFill>
              <a:latin typeface="Arial"/>
            </a:endParaRPr>
          </a:p>
        </p:txBody>
      </p:sp>
      <p:sp>
        <p:nvSpPr>
          <p:cNvPr id="204"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System Architecture</a:t>
            </a:r>
            <a:endParaRPr b="0" lang="en-US" sz="2600" spc="-1" strike="noStrike">
              <a:solidFill>
                <a:srgbClr val="ffffff"/>
              </a:solidFill>
              <a:latin typeface="Arial"/>
            </a:endParaRPr>
          </a:p>
        </p:txBody>
      </p:sp>
      <p:sp>
        <p:nvSpPr>
          <p:cNvPr id="205"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206" name="Text 7"/>
          <p:cNvSpPr/>
          <p:nvPr/>
        </p:nvSpPr>
        <p:spPr>
          <a:xfrm>
            <a:off x="457200" y="1371600"/>
            <a:ext cx="82260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How the pieces fit together</a:t>
            </a:r>
            <a:endParaRPr b="0" lang="en-US" sz="1200" spc="-1" strike="noStrike">
              <a:solidFill>
                <a:srgbClr val="ffffff"/>
              </a:solidFill>
              <a:latin typeface="Arial"/>
            </a:endParaRPr>
          </a:p>
        </p:txBody>
      </p:sp>
      <p:sp>
        <p:nvSpPr>
          <p:cNvPr id="207" name="Shape 8"/>
          <p:cNvSpPr/>
          <p:nvPr/>
        </p:nvSpPr>
        <p:spPr>
          <a:xfrm>
            <a:off x="457200" y="173736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 name="Shape 9"/>
          <p:cNvSpPr/>
          <p:nvPr/>
        </p:nvSpPr>
        <p:spPr>
          <a:xfrm>
            <a:off x="457200" y="1737360"/>
            <a:ext cx="106200" cy="755280"/>
          </a:xfrm>
          <a:prstGeom prst="rect">
            <a:avLst/>
          </a:prstGeom>
          <a:solidFill>
            <a:srgbClr val="3b82f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 name="Text 10"/>
          <p:cNvSpPr/>
          <p:nvPr/>
        </p:nvSpPr>
        <p:spPr>
          <a:xfrm>
            <a:off x="777240" y="1828800"/>
            <a:ext cx="767736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PRESENTATION LAYER  ·  Browser Client</a:t>
            </a:r>
            <a:endParaRPr b="0" lang="en-US" sz="1300" spc="-1" strike="noStrike">
              <a:solidFill>
                <a:srgbClr val="ffffff"/>
              </a:solidFill>
              <a:latin typeface="Arial"/>
            </a:endParaRPr>
          </a:p>
        </p:txBody>
      </p:sp>
      <p:sp>
        <p:nvSpPr>
          <p:cNvPr id="210" name="Text 11"/>
          <p:cNvSpPr/>
          <p:nvPr/>
        </p:nvSpPr>
        <p:spPr>
          <a:xfrm>
            <a:off x="777240" y="2121480"/>
            <a:ext cx="7677360" cy="307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HTML5, CSS3 &amp; Vanilla JS (ES Modules) — subnetting, VLSM, IPv6 &amp; Dijkstra logic run client-side.</a:t>
            </a:r>
            <a:endParaRPr b="0" lang="en-US" sz="1000" spc="-1" strike="noStrike">
              <a:solidFill>
                <a:srgbClr val="ffffff"/>
              </a:solidFill>
              <a:latin typeface="Arial"/>
            </a:endParaRPr>
          </a:p>
        </p:txBody>
      </p:sp>
      <p:sp>
        <p:nvSpPr>
          <p:cNvPr id="211" name="Shape 12"/>
          <p:cNvSpPr/>
          <p:nvPr/>
        </p:nvSpPr>
        <p:spPr>
          <a:xfrm>
            <a:off x="457200" y="258768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 name="Shape 13"/>
          <p:cNvSpPr/>
          <p:nvPr/>
        </p:nvSpPr>
        <p:spPr>
          <a:xfrm>
            <a:off x="457200" y="2587680"/>
            <a:ext cx="106200" cy="755280"/>
          </a:xfrm>
          <a:prstGeom prst="rect">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 name="Text 14"/>
          <p:cNvSpPr/>
          <p:nvPr/>
        </p:nvSpPr>
        <p:spPr>
          <a:xfrm>
            <a:off x="777240" y="2679120"/>
            <a:ext cx="767736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AUTH &amp; SERVERLESS LAYER  ·  Firebase + WebDev</a:t>
            </a:r>
            <a:endParaRPr b="0" lang="en-US" sz="1300" spc="-1" strike="noStrike">
              <a:solidFill>
                <a:srgbClr val="ffffff"/>
              </a:solidFill>
              <a:latin typeface="Arial"/>
            </a:endParaRPr>
          </a:p>
        </p:txBody>
      </p:sp>
      <p:sp>
        <p:nvSpPr>
          <p:cNvPr id="214" name="Text 15"/>
          <p:cNvSpPr/>
          <p:nvPr/>
        </p:nvSpPr>
        <p:spPr>
          <a:xfrm>
            <a:off x="777240" y="2971800"/>
            <a:ext cx="7677360" cy="307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Firebase Authentication for accounts; a secure server endpoint holds the Gemini key server-side.</a:t>
            </a:r>
            <a:endParaRPr b="0" lang="en-US" sz="1000" spc="-1" strike="noStrike">
              <a:solidFill>
                <a:srgbClr val="ffffff"/>
              </a:solidFill>
              <a:latin typeface="Arial"/>
            </a:endParaRPr>
          </a:p>
        </p:txBody>
      </p:sp>
      <p:sp>
        <p:nvSpPr>
          <p:cNvPr id="215" name="Shape 16"/>
          <p:cNvSpPr/>
          <p:nvPr/>
        </p:nvSpPr>
        <p:spPr>
          <a:xfrm>
            <a:off x="457200" y="343800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 name="Shape 17"/>
          <p:cNvSpPr/>
          <p:nvPr/>
        </p:nvSpPr>
        <p:spPr>
          <a:xfrm>
            <a:off x="457200" y="3438000"/>
            <a:ext cx="106200" cy="755280"/>
          </a:xfrm>
          <a:prstGeom prst="rect">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7" name="Text 18"/>
          <p:cNvSpPr/>
          <p:nvPr/>
        </p:nvSpPr>
        <p:spPr>
          <a:xfrm>
            <a:off x="777240" y="3529440"/>
            <a:ext cx="767736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AI PROCESSING LAYER  ·  Google Gemini API</a:t>
            </a:r>
            <a:endParaRPr b="0" lang="en-US" sz="1300" spc="-1" strike="noStrike">
              <a:solidFill>
                <a:srgbClr val="ffffff"/>
              </a:solidFill>
              <a:latin typeface="Arial"/>
            </a:endParaRPr>
          </a:p>
        </p:txBody>
      </p:sp>
      <p:sp>
        <p:nvSpPr>
          <p:cNvPr id="218" name="Text 19"/>
          <p:cNvSpPr/>
          <p:nvPr/>
        </p:nvSpPr>
        <p:spPr>
          <a:xfrm>
            <a:off x="777240" y="3822120"/>
            <a:ext cx="7677360" cy="307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Answers in-context networking questions and powers the AI assistant.</a:t>
            </a:r>
            <a:endParaRPr b="0" lang="en-US" sz="1000" spc="-1" strike="noStrike">
              <a:solidFill>
                <a:srgbClr val="ffffff"/>
              </a:solidFill>
              <a:latin typeface="Arial"/>
            </a:endParaRPr>
          </a:p>
        </p:txBody>
      </p:sp>
      <p:sp>
        <p:nvSpPr>
          <p:cNvPr id="219" name="Shape 20"/>
          <p:cNvSpPr/>
          <p:nvPr/>
        </p:nvSpPr>
        <p:spPr>
          <a:xfrm>
            <a:off x="457200" y="4288680"/>
            <a:ext cx="8226000" cy="75528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 name="Shape 21"/>
          <p:cNvSpPr/>
          <p:nvPr/>
        </p:nvSpPr>
        <p:spPr>
          <a:xfrm>
            <a:off x="457200" y="4288680"/>
            <a:ext cx="106200" cy="755280"/>
          </a:xfrm>
          <a:prstGeom prst="rect">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 name="Text 22"/>
          <p:cNvSpPr/>
          <p:nvPr/>
        </p:nvSpPr>
        <p:spPr>
          <a:xfrm>
            <a:off x="777240" y="4380120"/>
            <a:ext cx="767736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DATA LAYER  ·  Cloud Firestore</a:t>
            </a:r>
            <a:endParaRPr b="0" lang="en-US" sz="1300" spc="-1" strike="noStrike">
              <a:solidFill>
                <a:srgbClr val="ffffff"/>
              </a:solidFill>
              <a:latin typeface="Arial"/>
            </a:endParaRPr>
          </a:p>
        </p:txBody>
      </p:sp>
      <p:sp>
        <p:nvSpPr>
          <p:cNvPr id="222" name="Text 23"/>
          <p:cNvSpPr/>
          <p:nvPr/>
        </p:nvSpPr>
        <p:spPr>
          <a:xfrm>
            <a:off x="777240" y="4672440"/>
            <a:ext cx="7677360" cy="307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Logged-in calculation history is stored per user in Firestore. Gamification progress is stored in the browser.</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223"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225" name="Image 0" descr="/home/claude/build/logo.png"/>
          <p:cNvPicPr/>
          <p:nvPr/>
        </p:nvPicPr>
        <p:blipFill>
          <a:blip r:embed="rId1"/>
          <a:stretch/>
        </p:blipFill>
        <p:spPr>
          <a:xfrm>
            <a:off x="320040" y="201240"/>
            <a:ext cx="563400" cy="453600"/>
          </a:xfrm>
          <a:prstGeom prst="rect">
            <a:avLst/>
          </a:prstGeom>
          <a:ln w="0">
            <a:noFill/>
          </a:ln>
        </p:spPr>
      </p:pic>
      <p:sp>
        <p:nvSpPr>
          <p:cNvPr id="226"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227"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228"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8 / 15</a:t>
            </a:r>
            <a:endParaRPr b="0" lang="en-US" sz="1000" spc="-1" strike="noStrike">
              <a:solidFill>
                <a:srgbClr val="ffffff"/>
              </a:solidFill>
              <a:latin typeface="Arial"/>
            </a:endParaRPr>
          </a:p>
        </p:txBody>
      </p:sp>
      <p:sp>
        <p:nvSpPr>
          <p:cNvPr id="229"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Use Case &amp; Sequence Analysis</a:t>
            </a:r>
            <a:endParaRPr b="0" lang="en-US" sz="2600" spc="-1" strike="noStrike">
              <a:solidFill>
                <a:srgbClr val="ffffff"/>
              </a:solidFill>
              <a:latin typeface="Arial"/>
            </a:endParaRPr>
          </a:p>
        </p:txBody>
      </p:sp>
      <p:sp>
        <p:nvSpPr>
          <p:cNvPr id="230"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231" name="Shape 7"/>
          <p:cNvSpPr/>
          <p:nvPr/>
        </p:nvSpPr>
        <p:spPr>
          <a:xfrm>
            <a:off x="457200" y="1536120"/>
            <a:ext cx="3974040" cy="32425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 name="Shape 8"/>
          <p:cNvSpPr/>
          <p:nvPr/>
        </p:nvSpPr>
        <p:spPr>
          <a:xfrm>
            <a:off x="457200" y="1536120"/>
            <a:ext cx="39740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233" name="Text 9"/>
          <p:cNvSpPr/>
          <p:nvPr/>
        </p:nvSpPr>
        <p:spPr>
          <a:xfrm>
            <a:off x="658440" y="168264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72" strike="noStrike">
                <a:solidFill>
                  <a:srgbClr val="3b82f6"/>
                </a:solidFill>
                <a:latin typeface="Arial"/>
                <a:ea typeface="Arial"/>
              </a:rPr>
              <a:t>USE CASE ANALYSIS</a:t>
            </a:r>
            <a:endParaRPr b="0" lang="en-US" sz="1100" spc="-1" strike="noStrike">
              <a:solidFill>
                <a:srgbClr val="ffffff"/>
              </a:solidFill>
              <a:latin typeface="Arial"/>
            </a:endParaRPr>
          </a:p>
        </p:txBody>
      </p:sp>
      <p:sp>
        <p:nvSpPr>
          <p:cNvPr id="234" name="Text 10"/>
          <p:cNvSpPr/>
          <p:nvPr/>
        </p:nvSpPr>
        <p:spPr>
          <a:xfrm>
            <a:off x="658440" y="1956960"/>
            <a:ext cx="3571560" cy="225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pc="-1" strike="noStrike">
                <a:solidFill>
                  <a:srgbClr val="94a3b8"/>
                </a:solidFill>
                <a:latin typeface="Arial"/>
                <a:ea typeface="Arial"/>
              </a:rPr>
              <a:t>User: Student</a:t>
            </a:r>
            <a:endParaRPr b="0" lang="en-US" sz="1000" spc="-1" strike="noStrike">
              <a:solidFill>
                <a:srgbClr val="ffffff"/>
              </a:solidFill>
              <a:latin typeface="Arial"/>
            </a:endParaRPr>
          </a:p>
        </p:txBody>
      </p:sp>
      <p:sp>
        <p:nvSpPr>
          <p:cNvPr id="235" name="Text 11"/>
          <p:cNvSpPr/>
          <p:nvPr/>
        </p:nvSpPr>
        <p:spPr>
          <a:xfrm>
            <a:off x="658440" y="2313360"/>
            <a:ext cx="3571560" cy="23281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001"/>
              </a:spcAft>
              <a:buClr>
                <a:srgbClr val="ffffff"/>
              </a:buClr>
              <a:buFont typeface="Symbol" charset="2"/>
              <a:buChar char=""/>
            </a:pPr>
            <a:r>
              <a:rPr b="0" lang="en-US" sz="1100" spc="-1" strike="noStrike">
                <a:solidFill>
                  <a:srgbClr val="ffffff"/>
                </a:solidFill>
                <a:latin typeface="Arial"/>
                <a:ea typeface="Arial"/>
              </a:rPr>
              <a:t>Log in to the app</a:t>
            </a:r>
            <a:endParaRPr b="0" lang="en-US" sz="11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100" spc="-1" strike="noStrike">
                <a:solidFill>
                  <a:srgbClr val="ffffff"/>
                </a:solidFill>
                <a:latin typeface="Arial"/>
                <a:ea typeface="Arial"/>
              </a:rPr>
              <a:t>Run a subnetting / VLSM / IPv6 calculation</a:t>
            </a:r>
            <a:endParaRPr b="0" lang="en-US" sz="11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100" spc="-1" strike="noStrike">
                <a:solidFill>
                  <a:srgbClr val="ffffff"/>
                </a:solidFill>
                <a:latin typeface="Arial"/>
                <a:ea typeface="Arial"/>
              </a:rPr>
              <a:t>Build a topology &amp; run Dijkstra</a:t>
            </a:r>
            <a:endParaRPr b="0" lang="en-US" sz="11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100" spc="-1" strike="noStrike">
                <a:solidFill>
                  <a:srgbClr val="ffffff"/>
                </a:solidFill>
                <a:latin typeface="Arial"/>
                <a:ea typeface="Arial"/>
              </a:rPr>
              <a:t>Ask the AI assistant a question</a:t>
            </a:r>
            <a:endParaRPr b="0" lang="en-US" sz="1100" spc="-1" strike="noStrike">
              <a:solidFill>
                <a:srgbClr val="ffffff"/>
              </a:solidFill>
              <a:latin typeface="Arial"/>
            </a:endParaRPr>
          </a:p>
          <a:p>
            <a:pPr marL="343080" indent="-343080" defTabSz="914400">
              <a:lnSpc>
                <a:spcPct val="100000"/>
              </a:lnSpc>
              <a:spcAft>
                <a:spcPts val="1001"/>
              </a:spcAft>
              <a:buClr>
                <a:srgbClr val="ffffff"/>
              </a:buClr>
              <a:buFont typeface="Symbol" charset="2"/>
              <a:buChar char=""/>
            </a:pPr>
            <a:r>
              <a:rPr b="0" lang="en-US" sz="1100" spc="-1" strike="noStrike">
                <a:solidFill>
                  <a:srgbClr val="ffffff"/>
                </a:solidFill>
                <a:latin typeface="Arial"/>
                <a:ea typeface="Arial"/>
              </a:rPr>
              <a:t>Review points and badges</a:t>
            </a:r>
            <a:endParaRPr b="0" lang="en-US" sz="1100" spc="-1" strike="noStrike">
              <a:solidFill>
                <a:srgbClr val="ffffff"/>
              </a:solidFill>
              <a:latin typeface="Arial"/>
            </a:endParaRPr>
          </a:p>
        </p:txBody>
      </p:sp>
      <p:sp>
        <p:nvSpPr>
          <p:cNvPr id="236" name="Shape 12"/>
          <p:cNvSpPr/>
          <p:nvPr/>
        </p:nvSpPr>
        <p:spPr>
          <a:xfrm>
            <a:off x="4709160" y="1536120"/>
            <a:ext cx="3974040" cy="32425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 name="Shape 13"/>
          <p:cNvSpPr/>
          <p:nvPr/>
        </p:nvSpPr>
        <p:spPr>
          <a:xfrm>
            <a:off x="4709160" y="1536120"/>
            <a:ext cx="39740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238" name="Text 14"/>
          <p:cNvSpPr/>
          <p:nvPr/>
        </p:nvSpPr>
        <p:spPr>
          <a:xfrm>
            <a:off x="4910400" y="168264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72" strike="noStrike">
                <a:solidFill>
                  <a:srgbClr val="22c55e"/>
                </a:solidFill>
                <a:latin typeface="Arial"/>
                <a:ea typeface="Arial"/>
              </a:rPr>
              <a:t>SEQUENCE FLOW</a:t>
            </a:r>
            <a:endParaRPr b="0" lang="en-US" sz="1100" spc="-1" strike="noStrike">
              <a:solidFill>
                <a:srgbClr val="ffffff"/>
              </a:solidFill>
              <a:latin typeface="Arial"/>
            </a:endParaRPr>
          </a:p>
        </p:txBody>
      </p:sp>
      <p:sp>
        <p:nvSpPr>
          <p:cNvPr id="239" name="Shape 15"/>
          <p:cNvSpPr/>
          <p:nvPr/>
        </p:nvSpPr>
        <p:spPr>
          <a:xfrm>
            <a:off x="4910400" y="2066400"/>
            <a:ext cx="307440" cy="307440"/>
          </a:xfrm>
          <a:prstGeom prst="roundRect">
            <a:avLst>
              <a:gd name="adj" fmla="val 23529"/>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0" name="Text 16"/>
          <p:cNvSpPr/>
          <p:nvPr/>
        </p:nvSpPr>
        <p:spPr>
          <a:xfrm>
            <a:off x="4910400" y="206640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ffffff"/>
              </a:solidFill>
              <a:latin typeface="Arial"/>
            </a:endParaRPr>
          </a:p>
        </p:txBody>
      </p:sp>
      <p:sp>
        <p:nvSpPr>
          <p:cNvPr id="241" name="Text 17"/>
          <p:cNvSpPr/>
          <p:nvPr/>
        </p:nvSpPr>
        <p:spPr>
          <a:xfrm>
            <a:off x="5312520" y="203904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Student opens app &amp; logs in via Firebase Auth</a:t>
            </a:r>
            <a:endParaRPr b="0" lang="en-US" sz="1000" spc="-1" strike="noStrike">
              <a:solidFill>
                <a:srgbClr val="ffffff"/>
              </a:solidFill>
              <a:latin typeface="Arial"/>
            </a:endParaRPr>
          </a:p>
        </p:txBody>
      </p:sp>
      <p:sp>
        <p:nvSpPr>
          <p:cNvPr id="242" name="Shape 18"/>
          <p:cNvSpPr/>
          <p:nvPr/>
        </p:nvSpPr>
        <p:spPr>
          <a:xfrm>
            <a:off x="4910400" y="2569320"/>
            <a:ext cx="307440" cy="307440"/>
          </a:xfrm>
          <a:prstGeom prst="roundRect">
            <a:avLst>
              <a:gd name="adj" fmla="val 23529"/>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 name="Text 19"/>
          <p:cNvSpPr/>
          <p:nvPr/>
        </p:nvSpPr>
        <p:spPr>
          <a:xfrm>
            <a:off x="4910400" y="256932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ffffff"/>
              </a:solidFill>
              <a:latin typeface="Arial"/>
            </a:endParaRPr>
          </a:p>
        </p:txBody>
      </p:sp>
      <p:sp>
        <p:nvSpPr>
          <p:cNvPr id="244" name="Text 20"/>
          <p:cNvSpPr/>
          <p:nvPr/>
        </p:nvSpPr>
        <p:spPr>
          <a:xfrm>
            <a:off x="5312520" y="254196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Calculator / topology runs instantly in the client module</a:t>
            </a:r>
            <a:endParaRPr b="0" lang="en-US" sz="1000" spc="-1" strike="noStrike">
              <a:solidFill>
                <a:srgbClr val="ffffff"/>
              </a:solidFill>
              <a:latin typeface="Arial"/>
            </a:endParaRPr>
          </a:p>
        </p:txBody>
      </p:sp>
      <p:sp>
        <p:nvSpPr>
          <p:cNvPr id="245" name="Shape 21"/>
          <p:cNvSpPr/>
          <p:nvPr/>
        </p:nvSpPr>
        <p:spPr>
          <a:xfrm>
            <a:off x="4910400" y="3072240"/>
            <a:ext cx="307440" cy="307440"/>
          </a:xfrm>
          <a:prstGeom prst="roundRect">
            <a:avLst>
              <a:gd name="adj" fmla="val 23529"/>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6" name="Text 22"/>
          <p:cNvSpPr/>
          <p:nvPr/>
        </p:nvSpPr>
        <p:spPr>
          <a:xfrm>
            <a:off x="4910400" y="307224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ffffff"/>
              </a:solidFill>
              <a:latin typeface="Arial"/>
            </a:endParaRPr>
          </a:p>
        </p:txBody>
      </p:sp>
      <p:sp>
        <p:nvSpPr>
          <p:cNvPr id="247" name="Text 23"/>
          <p:cNvSpPr/>
          <p:nvPr/>
        </p:nvSpPr>
        <p:spPr>
          <a:xfrm>
            <a:off x="5312520" y="304488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AI question sent to the secure server endpoint</a:t>
            </a:r>
            <a:endParaRPr b="0" lang="en-US" sz="1000" spc="-1" strike="noStrike">
              <a:solidFill>
                <a:srgbClr val="ffffff"/>
              </a:solidFill>
              <a:latin typeface="Arial"/>
            </a:endParaRPr>
          </a:p>
        </p:txBody>
      </p:sp>
      <p:sp>
        <p:nvSpPr>
          <p:cNvPr id="248" name="Shape 24"/>
          <p:cNvSpPr/>
          <p:nvPr/>
        </p:nvSpPr>
        <p:spPr>
          <a:xfrm>
            <a:off x="4910400" y="3575160"/>
            <a:ext cx="307440" cy="307440"/>
          </a:xfrm>
          <a:prstGeom prst="roundRect">
            <a:avLst>
              <a:gd name="adj" fmla="val 23529"/>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Text 25"/>
          <p:cNvSpPr/>
          <p:nvPr/>
        </p:nvSpPr>
        <p:spPr>
          <a:xfrm>
            <a:off x="4910400" y="357516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4</a:t>
            </a:r>
            <a:endParaRPr b="0" lang="en-US" sz="1500" spc="-1" strike="noStrike">
              <a:solidFill>
                <a:srgbClr val="ffffff"/>
              </a:solidFill>
              <a:latin typeface="Arial"/>
            </a:endParaRPr>
          </a:p>
        </p:txBody>
      </p:sp>
      <p:sp>
        <p:nvSpPr>
          <p:cNvPr id="250" name="Text 26"/>
          <p:cNvSpPr/>
          <p:nvPr/>
        </p:nvSpPr>
        <p:spPr>
          <a:xfrm>
            <a:off x="5312520" y="354780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Server endpoint forwards the request to the Gemini API</a:t>
            </a:r>
            <a:endParaRPr b="0" lang="en-US" sz="1000" spc="-1" strike="noStrike">
              <a:solidFill>
                <a:srgbClr val="ffffff"/>
              </a:solidFill>
              <a:latin typeface="Arial"/>
            </a:endParaRPr>
          </a:p>
        </p:txBody>
      </p:sp>
      <p:sp>
        <p:nvSpPr>
          <p:cNvPr id="251" name="Shape 27"/>
          <p:cNvSpPr/>
          <p:nvPr/>
        </p:nvSpPr>
        <p:spPr>
          <a:xfrm>
            <a:off x="4910400" y="4078080"/>
            <a:ext cx="307440" cy="307440"/>
          </a:xfrm>
          <a:prstGeom prst="roundRect">
            <a:avLst>
              <a:gd name="adj" fmla="val 23529"/>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 name="Text 28"/>
          <p:cNvSpPr/>
          <p:nvPr/>
        </p:nvSpPr>
        <p:spPr>
          <a:xfrm>
            <a:off x="4910400" y="407808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5</a:t>
            </a:r>
            <a:endParaRPr b="0" lang="en-US" sz="1500" spc="-1" strike="noStrike">
              <a:solidFill>
                <a:srgbClr val="ffffff"/>
              </a:solidFill>
              <a:latin typeface="Arial"/>
            </a:endParaRPr>
          </a:p>
        </p:txBody>
      </p:sp>
      <p:sp>
        <p:nvSpPr>
          <p:cNvPr id="253" name="Text 29"/>
          <p:cNvSpPr/>
          <p:nvPr/>
        </p:nvSpPr>
        <p:spPr>
          <a:xfrm>
            <a:off x="5312520" y="405072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Response returned, displayed &amp; logged to Firestore</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254"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256" name="Image 0" descr="/home/claude/build/logo.png"/>
          <p:cNvPicPr/>
          <p:nvPr/>
        </p:nvPicPr>
        <p:blipFill>
          <a:blip r:embed="rId1"/>
          <a:stretch/>
        </p:blipFill>
        <p:spPr>
          <a:xfrm>
            <a:off x="320040" y="201240"/>
            <a:ext cx="563400" cy="453600"/>
          </a:xfrm>
          <a:prstGeom prst="rect">
            <a:avLst/>
          </a:prstGeom>
          <a:ln w="0">
            <a:noFill/>
          </a:ln>
        </p:spPr>
      </p:pic>
      <p:sp>
        <p:nvSpPr>
          <p:cNvPr id="257"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258"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259"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9 / 15</a:t>
            </a:r>
            <a:endParaRPr b="0" lang="en-US" sz="1000" spc="-1" strike="noStrike">
              <a:solidFill>
                <a:srgbClr val="ffffff"/>
              </a:solidFill>
              <a:latin typeface="Arial"/>
            </a:endParaRPr>
          </a:p>
        </p:txBody>
      </p:sp>
      <p:sp>
        <p:nvSpPr>
          <p:cNvPr id="260"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Data Flow &amp; Data Model</a:t>
            </a:r>
            <a:endParaRPr b="0" lang="en-US" sz="2600" spc="-1" strike="noStrike">
              <a:solidFill>
                <a:srgbClr val="ffffff"/>
              </a:solidFill>
              <a:latin typeface="Arial"/>
            </a:endParaRPr>
          </a:p>
        </p:txBody>
      </p:sp>
      <p:sp>
        <p:nvSpPr>
          <p:cNvPr id="261"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262" name="Shape 7"/>
          <p:cNvSpPr/>
          <p:nvPr/>
        </p:nvSpPr>
        <p:spPr>
          <a:xfrm>
            <a:off x="457200" y="1536120"/>
            <a:ext cx="3974040" cy="32425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 name="Shape 8"/>
          <p:cNvSpPr/>
          <p:nvPr/>
        </p:nvSpPr>
        <p:spPr>
          <a:xfrm>
            <a:off x="457200" y="1536120"/>
            <a:ext cx="39740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264" name="Text 9"/>
          <p:cNvSpPr/>
          <p:nvPr/>
        </p:nvSpPr>
        <p:spPr>
          <a:xfrm>
            <a:off x="658440" y="168264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72" strike="noStrike">
                <a:solidFill>
                  <a:srgbClr val="f59e0b"/>
                </a:solidFill>
                <a:latin typeface="Arial"/>
                <a:ea typeface="Arial"/>
              </a:rPr>
              <a:t>DATA FLOW</a:t>
            </a:r>
            <a:endParaRPr b="0" lang="en-US" sz="1100" spc="-1" strike="noStrike">
              <a:solidFill>
                <a:srgbClr val="ffffff"/>
              </a:solidFill>
              <a:latin typeface="Arial"/>
            </a:endParaRPr>
          </a:p>
        </p:txBody>
      </p:sp>
      <p:sp>
        <p:nvSpPr>
          <p:cNvPr id="265" name="Shape 10"/>
          <p:cNvSpPr/>
          <p:nvPr/>
        </p:nvSpPr>
        <p:spPr>
          <a:xfrm>
            <a:off x="658440" y="2066400"/>
            <a:ext cx="307440" cy="307440"/>
          </a:xfrm>
          <a:prstGeom prst="roundRect">
            <a:avLst>
              <a:gd name="adj" fmla="val 23529"/>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6" name="Text 11"/>
          <p:cNvSpPr/>
          <p:nvPr/>
        </p:nvSpPr>
        <p:spPr>
          <a:xfrm>
            <a:off x="658440" y="206640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1</a:t>
            </a:r>
            <a:endParaRPr b="0" lang="en-US" sz="1500" spc="-1" strike="noStrike">
              <a:solidFill>
                <a:srgbClr val="ffffff"/>
              </a:solidFill>
              <a:latin typeface="Arial"/>
            </a:endParaRPr>
          </a:p>
        </p:txBody>
      </p:sp>
      <p:sp>
        <p:nvSpPr>
          <p:cNvPr id="267" name="Text 12"/>
          <p:cNvSpPr/>
          <p:nvPr/>
        </p:nvSpPr>
        <p:spPr>
          <a:xfrm>
            <a:off x="1060560" y="203904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Student enters a calculation, topology, or question</a:t>
            </a:r>
            <a:endParaRPr b="0" lang="en-US" sz="1000" spc="-1" strike="noStrike">
              <a:solidFill>
                <a:srgbClr val="ffffff"/>
              </a:solidFill>
              <a:latin typeface="Arial"/>
            </a:endParaRPr>
          </a:p>
        </p:txBody>
      </p:sp>
      <p:sp>
        <p:nvSpPr>
          <p:cNvPr id="268" name="Shape 13"/>
          <p:cNvSpPr/>
          <p:nvPr/>
        </p:nvSpPr>
        <p:spPr>
          <a:xfrm>
            <a:off x="658440" y="2569320"/>
            <a:ext cx="307440" cy="307440"/>
          </a:xfrm>
          <a:prstGeom prst="roundRect">
            <a:avLst>
              <a:gd name="adj" fmla="val 23529"/>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69" name="Text 14"/>
          <p:cNvSpPr/>
          <p:nvPr/>
        </p:nvSpPr>
        <p:spPr>
          <a:xfrm>
            <a:off x="658440" y="256932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2</a:t>
            </a:r>
            <a:endParaRPr b="0" lang="en-US" sz="1500" spc="-1" strike="noStrike">
              <a:solidFill>
                <a:srgbClr val="ffffff"/>
              </a:solidFill>
              <a:latin typeface="Arial"/>
            </a:endParaRPr>
          </a:p>
        </p:txBody>
      </p:sp>
      <p:sp>
        <p:nvSpPr>
          <p:cNvPr id="270" name="Text 15"/>
          <p:cNvSpPr/>
          <p:nvPr/>
        </p:nvSpPr>
        <p:spPr>
          <a:xfrm>
            <a:off x="1060560" y="254196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The browser processes it directly when possible</a:t>
            </a:r>
            <a:endParaRPr b="0" lang="en-US" sz="1000" spc="-1" strike="noStrike">
              <a:solidFill>
                <a:srgbClr val="ffffff"/>
              </a:solidFill>
              <a:latin typeface="Arial"/>
            </a:endParaRPr>
          </a:p>
        </p:txBody>
      </p:sp>
      <p:sp>
        <p:nvSpPr>
          <p:cNvPr id="271" name="Shape 16"/>
          <p:cNvSpPr/>
          <p:nvPr/>
        </p:nvSpPr>
        <p:spPr>
          <a:xfrm>
            <a:off x="658440" y="3072240"/>
            <a:ext cx="307440" cy="307440"/>
          </a:xfrm>
          <a:prstGeom prst="roundRect">
            <a:avLst>
              <a:gd name="adj" fmla="val 23529"/>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2" name="Text 17"/>
          <p:cNvSpPr/>
          <p:nvPr/>
        </p:nvSpPr>
        <p:spPr>
          <a:xfrm>
            <a:off x="658440" y="307224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3</a:t>
            </a:r>
            <a:endParaRPr b="0" lang="en-US" sz="1500" spc="-1" strike="noStrike">
              <a:solidFill>
                <a:srgbClr val="ffffff"/>
              </a:solidFill>
              <a:latin typeface="Arial"/>
            </a:endParaRPr>
          </a:p>
        </p:txBody>
      </p:sp>
      <p:sp>
        <p:nvSpPr>
          <p:cNvPr id="273" name="Text 18"/>
          <p:cNvSpPr/>
          <p:nvPr/>
        </p:nvSpPr>
        <p:spPr>
          <a:xfrm>
            <a:off x="1060560" y="304488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AI questions are forwarded to the secure server endpoint</a:t>
            </a:r>
            <a:endParaRPr b="0" lang="en-US" sz="1000" spc="-1" strike="noStrike">
              <a:solidFill>
                <a:srgbClr val="ffffff"/>
              </a:solidFill>
              <a:latin typeface="Arial"/>
            </a:endParaRPr>
          </a:p>
        </p:txBody>
      </p:sp>
      <p:sp>
        <p:nvSpPr>
          <p:cNvPr id="274" name="Shape 19"/>
          <p:cNvSpPr/>
          <p:nvPr/>
        </p:nvSpPr>
        <p:spPr>
          <a:xfrm>
            <a:off x="658440" y="3575160"/>
            <a:ext cx="307440" cy="307440"/>
          </a:xfrm>
          <a:prstGeom prst="roundRect">
            <a:avLst>
              <a:gd name="adj" fmla="val 23529"/>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5" name="Text 20"/>
          <p:cNvSpPr/>
          <p:nvPr/>
        </p:nvSpPr>
        <p:spPr>
          <a:xfrm>
            <a:off x="658440" y="357516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4</a:t>
            </a:r>
            <a:endParaRPr b="0" lang="en-US" sz="1500" spc="-1" strike="noStrike">
              <a:solidFill>
                <a:srgbClr val="ffffff"/>
              </a:solidFill>
              <a:latin typeface="Arial"/>
            </a:endParaRPr>
          </a:p>
        </p:txBody>
      </p:sp>
      <p:sp>
        <p:nvSpPr>
          <p:cNvPr id="276" name="Text 21"/>
          <p:cNvSpPr/>
          <p:nvPr/>
        </p:nvSpPr>
        <p:spPr>
          <a:xfrm>
            <a:off x="1060560" y="354780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The secure endpoint calls the Gemini API server-side</a:t>
            </a:r>
            <a:endParaRPr b="0" lang="en-US" sz="1000" spc="-1" strike="noStrike">
              <a:solidFill>
                <a:srgbClr val="ffffff"/>
              </a:solidFill>
              <a:latin typeface="Arial"/>
            </a:endParaRPr>
          </a:p>
        </p:txBody>
      </p:sp>
      <p:sp>
        <p:nvSpPr>
          <p:cNvPr id="277" name="Shape 22"/>
          <p:cNvSpPr/>
          <p:nvPr/>
        </p:nvSpPr>
        <p:spPr>
          <a:xfrm>
            <a:off x="658440" y="4078080"/>
            <a:ext cx="307440" cy="307440"/>
          </a:xfrm>
          <a:prstGeom prst="roundRect">
            <a:avLst>
              <a:gd name="adj" fmla="val 23529"/>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78" name="Text 23"/>
          <p:cNvSpPr/>
          <p:nvPr/>
        </p:nvSpPr>
        <p:spPr>
          <a:xfrm>
            <a:off x="658440" y="4078080"/>
            <a:ext cx="307440" cy="307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5</a:t>
            </a:r>
            <a:endParaRPr b="0" lang="en-US" sz="1500" spc="-1" strike="noStrike">
              <a:solidFill>
                <a:srgbClr val="ffffff"/>
              </a:solidFill>
              <a:latin typeface="Arial"/>
            </a:endParaRPr>
          </a:p>
        </p:txBody>
      </p:sp>
      <p:sp>
        <p:nvSpPr>
          <p:cNvPr id="279" name="Text 24"/>
          <p:cNvSpPr/>
          <p:nvPr/>
        </p:nvSpPr>
        <p:spPr>
          <a:xfrm>
            <a:off x="1060560" y="4050720"/>
            <a:ext cx="3151080" cy="45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94a3b8"/>
                </a:solidFill>
                <a:latin typeface="Arial"/>
                <a:ea typeface="Arial"/>
              </a:rPr>
              <a:t>Result shown; logged-in history is saved to Firestore</a:t>
            </a:r>
            <a:endParaRPr b="0" lang="en-US" sz="1000" spc="-1" strike="noStrike">
              <a:solidFill>
                <a:srgbClr val="ffffff"/>
              </a:solidFill>
              <a:latin typeface="Arial"/>
            </a:endParaRPr>
          </a:p>
        </p:txBody>
      </p:sp>
      <p:sp>
        <p:nvSpPr>
          <p:cNvPr id="280" name="Shape 25"/>
          <p:cNvSpPr/>
          <p:nvPr/>
        </p:nvSpPr>
        <p:spPr>
          <a:xfrm>
            <a:off x="4709160" y="1536120"/>
            <a:ext cx="3974040" cy="32425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1" name="Shape 26"/>
          <p:cNvSpPr/>
          <p:nvPr/>
        </p:nvSpPr>
        <p:spPr>
          <a:xfrm>
            <a:off x="4709160" y="153612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282" name="Text 27"/>
          <p:cNvSpPr/>
          <p:nvPr/>
        </p:nvSpPr>
        <p:spPr>
          <a:xfrm>
            <a:off x="4910400" y="168264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72" strike="noStrike">
                <a:solidFill>
                  <a:srgbClr val="8b1a2b"/>
                </a:solidFill>
                <a:latin typeface="Arial"/>
                <a:ea typeface="Arial"/>
              </a:rPr>
              <a:t>DATA MODEL  ·  Firestore</a:t>
            </a:r>
            <a:endParaRPr b="0" lang="en-US" sz="1100" spc="-1" strike="noStrike">
              <a:solidFill>
                <a:srgbClr val="ffffff"/>
              </a:solidFill>
              <a:latin typeface="Arial"/>
            </a:endParaRPr>
          </a:p>
        </p:txBody>
      </p:sp>
      <p:sp>
        <p:nvSpPr>
          <p:cNvPr id="283" name="Text 28"/>
          <p:cNvSpPr/>
          <p:nvPr/>
        </p:nvSpPr>
        <p:spPr>
          <a:xfrm>
            <a:off x="4910400" y="2066400"/>
            <a:ext cx="3571560" cy="1459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199"/>
              </a:spcAft>
              <a:buClr>
                <a:srgbClr val="ffffff"/>
              </a:buClr>
              <a:buFont typeface="Symbol" charset="2"/>
              <a:buChar char=""/>
            </a:pPr>
            <a:r>
              <a:rPr b="0" lang="en-US" sz="1050" spc="-1" strike="noStrike">
                <a:solidFill>
                  <a:srgbClr val="ffffff"/>
                </a:solidFill>
                <a:latin typeface="Arial"/>
                <a:ea typeface="Arial"/>
              </a:rPr>
              <a:t>One user  →  many activity / history records</a:t>
            </a:r>
            <a:endParaRPr b="0" lang="en-US" sz="1050" spc="-1" strike="noStrike">
              <a:solidFill>
                <a:srgbClr val="ffffff"/>
              </a:solidFill>
              <a:latin typeface="Arial"/>
            </a:endParaRPr>
          </a:p>
          <a:p>
            <a:pPr marL="343080" indent="-343080" defTabSz="914400">
              <a:lnSpc>
                <a:spcPct val="100000"/>
              </a:lnSpc>
              <a:spcAft>
                <a:spcPts val="1199"/>
              </a:spcAft>
              <a:buClr>
                <a:srgbClr val="ffffff"/>
              </a:buClr>
              <a:buFont typeface="Symbol" charset="2"/>
              <a:buChar char=""/>
            </a:pPr>
            <a:r>
              <a:rPr b="0" lang="en-US" sz="1050" spc="-1" strike="noStrike">
                <a:solidFill>
                  <a:srgbClr val="ffffff"/>
                </a:solidFill>
                <a:latin typeface="Arial"/>
                <a:ea typeface="Arial"/>
              </a:rPr>
              <a:t>One activity record  →  one tool + score + timestamp</a:t>
            </a:r>
            <a:endParaRPr b="0" lang="en-US" sz="1050" spc="-1" strike="noStrike">
              <a:solidFill>
                <a:srgbClr val="ffffff"/>
              </a:solidFill>
              <a:latin typeface="Arial"/>
            </a:endParaRPr>
          </a:p>
          <a:p>
            <a:pPr marL="343080" indent="-343080" defTabSz="914400">
              <a:lnSpc>
                <a:spcPct val="100000"/>
              </a:lnSpc>
              <a:spcAft>
                <a:spcPts val="1199"/>
              </a:spcAft>
              <a:buClr>
                <a:srgbClr val="ffffff"/>
              </a:buClr>
              <a:buFont typeface="Symbol" charset="2"/>
              <a:buChar char=""/>
            </a:pPr>
            <a:r>
              <a:rPr b="0" lang="en-US" sz="1050" spc="-1" strike="noStrike">
                <a:solidFill>
                  <a:srgbClr val="ffffff"/>
                </a:solidFill>
                <a:latin typeface="Arial"/>
                <a:ea typeface="Arial"/>
              </a:rPr>
              <a:t>Badges are computed from a user's accumulated points</a:t>
            </a:r>
            <a:endParaRPr b="0" lang="en-US" sz="1050" spc="-1" strike="noStrike">
              <a:solidFill>
                <a:srgbClr val="ffffff"/>
              </a:solidFill>
              <a:latin typeface="Arial"/>
            </a:endParaRPr>
          </a:p>
        </p:txBody>
      </p:sp>
      <p:sp>
        <p:nvSpPr>
          <p:cNvPr id="284" name="Shape 29"/>
          <p:cNvSpPr/>
          <p:nvPr/>
        </p:nvSpPr>
        <p:spPr>
          <a:xfrm>
            <a:off x="4910040" y="3684960"/>
            <a:ext cx="3575520" cy="360"/>
          </a:xfrm>
          <a:prstGeom prst="line">
            <a:avLst/>
          </a:prstGeom>
          <a:ln w="9525">
            <a:solidFill>
              <a:srgbClr val="2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85" name="Text 30"/>
          <p:cNvSpPr/>
          <p:nvPr/>
        </p:nvSpPr>
        <p:spPr>
          <a:xfrm>
            <a:off x="4910400" y="3822120"/>
            <a:ext cx="3571560" cy="819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950" spc="-1" strike="noStrike">
                <a:solidFill>
                  <a:srgbClr val="94a3b8"/>
                </a:solidFill>
                <a:latin typeface="Arial"/>
                <a:ea typeface="Arial"/>
              </a:rPr>
              <a:t>Firestore keeps each student history separate and easy to follow.</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286"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7"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288" name="Image 0" descr="/home/claude/build/logo.png"/>
          <p:cNvPicPr/>
          <p:nvPr/>
        </p:nvPicPr>
        <p:blipFill>
          <a:blip r:embed="rId1"/>
          <a:stretch/>
        </p:blipFill>
        <p:spPr>
          <a:xfrm>
            <a:off x="320040" y="201240"/>
            <a:ext cx="563400" cy="453600"/>
          </a:xfrm>
          <a:prstGeom prst="rect">
            <a:avLst/>
          </a:prstGeom>
          <a:ln w="0">
            <a:noFill/>
          </a:ln>
        </p:spPr>
      </p:pic>
      <p:sp>
        <p:nvSpPr>
          <p:cNvPr id="289"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290"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291"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10 / 15</a:t>
            </a:r>
            <a:endParaRPr b="0" lang="en-US" sz="1000" spc="-1" strike="noStrike">
              <a:solidFill>
                <a:srgbClr val="ffffff"/>
              </a:solidFill>
              <a:latin typeface="Arial"/>
            </a:endParaRPr>
          </a:p>
        </p:txBody>
      </p:sp>
      <p:sp>
        <p:nvSpPr>
          <p:cNvPr id="292"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Explainable Anomaly Detection</a:t>
            </a:r>
            <a:endParaRPr b="0" lang="en-US" sz="2600" spc="-1" strike="noStrike">
              <a:solidFill>
                <a:srgbClr val="ffffff"/>
              </a:solidFill>
              <a:latin typeface="Arial"/>
            </a:endParaRPr>
          </a:p>
        </p:txBody>
      </p:sp>
      <p:sp>
        <p:nvSpPr>
          <p:cNvPr id="293"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294" name="Text 7"/>
          <p:cNvSpPr/>
          <p:nvPr/>
        </p:nvSpPr>
        <p:spPr>
          <a:xfrm>
            <a:off x="457200" y="1371600"/>
            <a:ext cx="82260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Rule-based score — not ML  •  Per-device dashboard  •  Testing planned  •  Gemini dependency</a:t>
            </a:r>
            <a:endParaRPr b="0" lang="en-US" sz="1200" spc="-1" strike="noStrike">
              <a:solidFill>
                <a:srgbClr val="ffffff"/>
              </a:solidFill>
              <a:latin typeface="Arial"/>
            </a:endParaRPr>
          </a:p>
        </p:txBody>
      </p:sp>
      <p:sp>
        <p:nvSpPr>
          <p:cNvPr id="295" name="Shape 8"/>
          <p:cNvSpPr/>
          <p:nvPr/>
        </p:nvSpPr>
        <p:spPr>
          <a:xfrm>
            <a:off x="457200" y="1737360"/>
            <a:ext cx="4934160" cy="3059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6" name="Shape 9"/>
          <p:cNvSpPr/>
          <p:nvPr/>
        </p:nvSpPr>
        <p:spPr>
          <a:xfrm>
            <a:off x="457200" y="1737360"/>
            <a:ext cx="493416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297" name="Text 10"/>
          <p:cNvSpPr/>
          <p:nvPr/>
        </p:nvSpPr>
        <p:spPr>
          <a:xfrm>
            <a:off x="658440" y="1883520"/>
            <a:ext cx="453168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72" strike="noStrike">
                <a:solidFill>
                  <a:srgbClr val="f59e0b"/>
                </a:solidFill>
                <a:latin typeface="Arial"/>
                <a:ea typeface="Arial"/>
              </a:rPr>
              <a:t>FLAGGED FINDINGS</a:t>
            </a:r>
            <a:endParaRPr b="0" lang="en-US" sz="1100" spc="-1" strike="noStrike">
              <a:solidFill>
                <a:srgbClr val="ffffff"/>
              </a:solidFill>
              <a:latin typeface="Arial"/>
            </a:endParaRPr>
          </a:p>
        </p:txBody>
      </p:sp>
      <p:sp>
        <p:nvSpPr>
          <p:cNvPr id="298" name="Text 11"/>
          <p:cNvSpPr/>
          <p:nvPr/>
        </p:nvSpPr>
        <p:spPr>
          <a:xfrm>
            <a:off x="658440" y="2240280"/>
            <a:ext cx="4531680" cy="23738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400"/>
              </a:spcAft>
              <a:buClr>
                <a:srgbClr val="ffffff"/>
              </a:buClr>
              <a:buFont typeface="OpenSymbol"/>
              <a:buChar char="⚑"/>
            </a:pPr>
            <a:r>
              <a:rPr b="0" lang="en-US" sz="1100" spc="-1" strike="noStrike">
                <a:solidFill>
                  <a:srgbClr val="ffffff"/>
                </a:solidFill>
                <a:latin typeface="Arial"/>
                <a:ea typeface="Arial"/>
              </a:rPr>
              <a:t>Invalid or unexpected public source IP</a:t>
            </a:r>
            <a:endParaRPr b="0" lang="en-US" sz="1100" spc="-1" strike="noStrike">
              <a:solidFill>
                <a:srgbClr val="ffffff"/>
              </a:solidFill>
              <a:latin typeface="Arial"/>
            </a:endParaRPr>
          </a:p>
          <a:p>
            <a:pPr marL="343080" indent="-343080" defTabSz="914400">
              <a:lnSpc>
                <a:spcPct val="100000"/>
              </a:lnSpc>
              <a:spcAft>
                <a:spcPts val="1400"/>
              </a:spcAft>
              <a:buClr>
                <a:srgbClr val="ffffff"/>
              </a:buClr>
              <a:buFont typeface="OpenSymbol"/>
              <a:buChar char="⚑"/>
            </a:pPr>
            <a:r>
              <a:rPr b="0" lang="en-US" sz="1100" spc="-1" strike="noStrike">
                <a:solidFill>
                  <a:srgbClr val="ffffff"/>
                </a:solidFill>
                <a:latin typeface="Arial"/>
                <a:ea typeface="Arial"/>
              </a:rPr>
              <a:t>Port number outside the expected range</a:t>
            </a:r>
            <a:endParaRPr b="0" lang="en-US" sz="1100" spc="-1" strike="noStrike">
              <a:solidFill>
                <a:srgbClr val="ffffff"/>
              </a:solidFill>
              <a:latin typeface="Arial"/>
            </a:endParaRPr>
          </a:p>
          <a:p>
            <a:pPr marL="343080" indent="-343080" defTabSz="914400">
              <a:lnSpc>
                <a:spcPct val="100000"/>
              </a:lnSpc>
              <a:spcAft>
                <a:spcPts val="1400"/>
              </a:spcAft>
              <a:buClr>
                <a:srgbClr val="ffffff"/>
              </a:buClr>
              <a:buFont typeface="OpenSymbol"/>
              <a:buChar char="⚑"/>
            </a:pPr>
            <a:r>
              <a:rPr b="0" lang="en-US" sz="1100" spc="-1" strike="noStrike">
                <a:solidFill>
                  <a:srgbClr val="ffffff"/>
                </a:solidFill>
                <a:latin typeface="Arial"/>
                <a:ea typeface="Arial"/>
              </a:rPr>
              <a:t>Malformed payload values</a:t>
            </a:r>
            <a:endParaRPr b="0" lang="en-US" sz="1100" spc="-1" strike="noStrike">
              <a:solidFill>
                <a:srgbClr val="ffffff"/>
              </a:solidFill>
              <a:latin typeface="Arial"/>
            </a:endParaRPr>
          </a:p>
          <a:p>
            <a:pPr marL="343080" indent="-343080" defTabSz="914400">
              <a:lnSpc>
                <a:spcPct val="100000"/>
              </a:lnSpc>
              <a:spcAft>
                <a:spcPts val="1400"/>
              </a:spcAft>
              <a:buClr>
                <a:srgbClr val="ffffff"/>
              </a:buClr>
              <a:buFont typeface="OpenSymbol"/>
              <a:buChar char="⚑"/>
            </a:pPr>
            <a:r>
              <a:rPr b="0" lang="en-US" sz="1100" spc="-1" strike="noStrike">
                <a:solidFill>
                  <a:srgbClr val="ffffff"/>
                </a:solidFill>
                <a:latin typeface="Arial"/>
                <a:ea typeface="Arial"/>
              </a:rPr>
              <a:t>Burst of connections in a short window</a:t>
            </a:r>
            <a:endParaRPr b="0" lang="en-US" sz="1100" spc="-1" strike="noStrike">
              <a:solidFill>
                <a:srgbClr val="ffffff"/>
              </a:solidFill>
              <a:latin typeface="Arial"/>
            </a:endParaRPr>
          </a:p>
          <a:p>
            <a:pPr marL="343080" indent="-343080" defTabSz="914400">
              <a:lnSpc>
                <a:spcPct val="100000"/>
              </a:lnSpc>
              <a:spcAft>
                <a:spcPts val="1400"/>
              </a:spcAft>
              <a:buClr>
                <a:srgbClr val="ffffff"/>
              </a:buClr>
              <a:buFont typeface="OpenSymbol"/>
              <a:buChar char="⚑"/>
            </a:pPr>
            <a:r>
              <a:rPr b="0" lang="en-US" sz="1100" spc="-1" strike="noStrike">
                <a:solidFill>
                  <a:srgbClr val="ffffff"/>
                </a:solidFill>
                <a:latin typeface="Arial"/>
                <a:ea typeface="Arial"/>
              </a:rPr>
              <a:t>Repeated failed login attempts</a:t>
            </a:r>
            <a:endParaRPr b="0" lang="en-US" sz="1100" spc="-1" strike="noStrike">
              <a:solidFill>
                <a:srgbClr val="ffffff"/>
              </a:solidFill>
              <a:latin typeface="Arial"/>
            </a:endParaRPr>
          </a:p>
        </p:txBody>
      </p:sp>
      <p:sp>
        <p:nvSpPr>
          <p:cNvPr id="299" name="Shape 12"/>
          <p:cNvSpPr/>
          <p:nvPr/>
        </p:nvSpPr>
        <p:spPr>
          <a:xfrm>
            <a:off x="5577840" y="1737360"/>
            <a:ext cx="2831040" cy="3059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0" name="Shape 13"/>
          <p:cNvSpPr/>
          <p:nvPr/>
        </p:nvSpPr>
        <p:spPr>
          <a:xfrm>
            <a:off x="5577840" y="1737360"/>
            <a:ext cx="2831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01" name="Text 14"/>
          <p:cNvSpPr/>
          <p:nvPr/>
        </p:nvSpPr>
        <p:spPr>
          <a:xfrm>
            <a:off x="5577840" y="1993320"/>
            <a:ext cx="2831040" cy="23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72" strike="noStrike">
                <a:solidFill>
                  <a:srgbClr val="94a3b8"/>
                </a:solidFill>
                <a:latin typeface="Arial"/>
                <a:ea typeface="Arial"/>
              </a:rPr>
              <a:t>RISK SCORE</a:t>
            </a:r>
            <a:endParaRPr b="0" lang="en-US" sz="1050" spc="-1" strike="noStrike">
              <a:solidFill>
                <a:srgbClr val="ffffff"/>
              </a:solidFill>
              <a:latin typeface="Arial"/>
            </a:endParaRPr>
          </a:p>
        </p:txBody>
      </p:sp>
      <p:sp>
        <p:nvSpPr>
          <p:cNvPr id="302" name="Text 15"/>
          <p:cNvSpPr/>
          <p:nvPr/>
        </p:nvSpPr>
        <p:spPr>
          <a:xfrm>
            <a:off x="5577840" y="2240280"/>
            <a:ext cx="2831040" cy="72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4400" spc="-1" strike="noStrike">
                <a:solidFill>
                  <a:srgbClr val="8b1a2b"/>
                </a:solidFill>
                <a:latin typeface="Arial Black"/>
                <a:ea typeface="Arial Black"/>
              </a:rPr>
              <a:t>78</a:t>
            </a:r>
            <a:endParaRPr b="0" lang="en-US" sz="4400" spc="-1" strike="noStrike">
              <a:solidFill>
                <a:srgbClr val="ffffff"/>
              </a:solidFill>
              <a:latin typeface="Arial"/>
            </a:endParaRPr>
          </a:p>
        </p:txBody>
      </p:sp>
      <p:sp>
        <p:nvSpPr>
          <p:cNvPr id="303" name="Text 16"/>
          <p:cNvSpPr/>
          <p:nvPr/>
        </p:nvSpPr>
        <p:spPr>
          <a:xfrm>
            <a:off x="5577840" y="2971800"/>
            <a:ext cx="283104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Arial"/>
                <a:ea typeface="Arial"/>
              </a:rPr>
              <a:t>/ 100  —  High</a:t>
            </a:r>
            <a:endParaRPr b="0" lang="en-US" sz="1200" spc="-1" strike="noStrike">
              <a:solidFill>
                <a:srgbClr val="ffffff"/>
              </a:solidFill>
              <a:latin typeface="Arial"/>
            </a:endParaRPr>
          </a:p>
        </p:txBody>
      </p:sp>
      <p:sp>
        <p:nvSpPr>
          <p:cNvPr id="304" name="Shape 17"/>
          <p:cNvSpPr/>
          <p:nvPr/>
        </p:nvSpPr>
        <p:spPr>
          <a:xfrm>
            <a:off x="5806440" y="3429000"/>
            <a:ext cx="2377440" cy="360"/>
          </a:xfrm>
          <a:prstGeom prst="line">
            <a:avLst/>
          </a:prstGeom>
          <a:ln w="9525">
            <a:solidFill>
              <a:srgbClr val="2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05" name="Text 18"/>
          <p:cNvSpPr/>
          <p:nvPr/>
        </p:nvSpPr>
        <p:spPr>
          <a:xfrm>
            <a:off x="5760720" y="3566160"/>
            <a:ext cx="2465280" cy="49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900" spc="-1" strike="noStrike">
                <a:solidFill>
                  <a:srgbClr val="94a3b8"/>
                </a:solidFill>
                <a:latin typeface="Arial"/>
                <a:ea typeface="Arial"/>
              </a:rPr>
              <a:t>Findings: unexpected public source, brute-force pattern</a:t>
            </a:r>
            <a:endParaRPr b="0" lang="en-US" sz="900" spc="-1" strike="noStrike">
              <a:solidFill>
                <a:srgbClr val="ffffff"/>
              </a:solidFill>
              <a:latin typeface="Arial"/>
            </a:endParaRPr>
          </a:p>
        </p:txBody>
      </p:sp>
      <p:sp>
        <p:nvSpPr>
          <p:cNvPr id="306" name="Text 19"/>
          <p:cNvSpPr/>
          <p:nvPr/>
        </p:nvSpPr>
        <p:spPr>
          <a:xfrm>
            <a:off x="5760720" y="4160520"/>
            <a:ext cx="2465280" cy="5907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i="1" lang="en-US" sz="850" spc="-1" strike="noStrike">
                <a:solidFill>
                  <a:srgbClr val="f59e0b"/>
                </a:solidFill>
                <a:latin typeface="Arial"/>
                <a:ea typeface="Arial"/>
              </a:rPr>
              <a:t>⚠ </a:t>
            </a:r>
            <a:r>
              <a:rPr b="0" i="1" lang="en-US" sz="850" spc="-1" strike="noStrike">
                <a:solidFill>
                  <a:srgbClr val="f59e0b"/>
                </a:solidFill>
                <a:latin typeface="Arial"/>
                <a:ea typeface="Arial"/>
              </a:rPr>
              <a:t>Educational heuristic only — not a trained ML model, and not a replacement for a production IDS/IPS.</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307"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8"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309" name="Image 0" descr="/home/claude/build/logo.png"/>
          <p:cNvPicPr/>
          <p:nvPr/>
        </p:nvPicPr>
        <p:blipFill>
          <a:blip r:embed="rId1"/>
          <a:stretch/>
        </p:blipFill>
        <p:spPr>
          <a:xfrm>
            <a:off x="320040" y="201240"/>
            <a:ext cx="563400" cy="453600"/>
          </a:xfrm>
          <a:prstGeom prst="rect">
            <a:avLst/>
          </a:prstGeom>
          <a:ln w="0">
            <a:noFill/>
          </a:ln>
        </p:spPr>
      </p:pic>
      <p:sp>
        <p:nvSpPr>
          <p:cNvPr id="310"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311"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312"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11 / 15</a:t>
            </a:r>
            <a:endParaRPr b="0" lang="en-US" sz="1000" spc="-1" strike="noStrike">
              <a:solidFill>
                <a:srgbClr val="ffffff"/>
              </a:solidFill>
              <a:latin typeface="Arial"/>
            </a:endParaRPr>
          </a:p>
        </p:txBody>
      </p:sp>
      <p:sp>
        <p:nvSpPr>
          <p:cNvPr id="313"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Security Engineering</a:t>
            </a:r>
            <a:endParaRPr b="0" lang="en-US" sz="2600" spc="-1" strike="noStrike">
              <a:solidFill>
                <a:srgbClr val="ffffff"/>
              </a:solidFill>
              <a:latin typeface="Arial"/>
            </a:endParaRPr>
          </a:p>
        </p:txBody>
      </p:sp>
      <p:sp>
        <p:nvSpPr>
          <p:cNvPr id="314"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315" name="Text 7"/>
          <p:cNvSpPr/>
          <p:nvPr/>
        </p:nvSpPr>
        <p:spPr>
          <a:xfrm>
            <a:off x="457200" y="1371600"/>
            <a:ext cx="82260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Risk management: Firebase ID tokens • server-only key • Firestore Rules • 20 AI requests / user / 10 min • explainable findings</a:t>
            </a:r>
            <a:endParaRPr b="0" lang="en-US" sz="1200" spc="-1" strike="noStrike">
              <a:solidFill>
                <a:srgbClr val="ffffff"/>
              </a:solidFill>
              <a:latin typeface="Arial"/>
            </a:endParaRPr>
          </a:p>
        </p:txBody>
      </p:sp>
      <p:sp>
        <p:nvSpPr>
          <p:cNvPr id="316" name="Shape 8"/>
          <p:cNvSpPr/>
          <p:nvPr/>
        </p:nvSpPr>
        <p:spPr>
          <a:xfrm>
            <a:off x="457200" y="1737360"/>
            <a:ext cx="3974040" cy="3059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7" name="Shape 9"/>
          <p:cNvSpPr/>
          <p:nvPr/>
        </p:nvSpPr>
        <p:spPr>
          <a:xfrm>
            <a:off x="457200" y="1737360"/>
            <a:ext cx="39740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18" name="Text 10"/>
          <p:cNvSpPr/>
          <p:nvPr/>
        </p:nvSpPr>
        <p:spPr>
          <a:xfrm>
            <a:off x="658440" y="188352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72" strike="noStrike">
                <a:solidFill>
                  <a:srgbClr val="8b1a2b"/>
                </a:solidFill>
                <a:latin typeface="Arial"/>
                <a:ea typeface="Arial"/>
              </a:rPr>
              <a:t>BEFORE</a:t>
            </a:r>
            <a:endParaRPr b="0" lang="en-US" sz="1200" spc="-1" strike="noStrike">
              <a:solidFill>
                <a:srgbClr val="ffffff"/>
              </a:solidFill>
              <a:latin typeface="Arial"/>
            </a:endParaRPr>
          </a:p>
        </p:txBody>
      </p:sp>
      <p:sp>
        <p:nvSpPr>
          <p:cNvPr id="319" name="Text 11"/>
          <p:cNvSpPr/>
          <p:nvPr/>
        </p:nvSpPr>
        <p:spPr>
          <a:xfrm>
            <a:off x="658440" y="2286000"/>
            <a:ext cx="3571560" cy="23281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599"/>
              </a:spcAft>
              <a:buClr>
                <a:srgbClr val="ffffff"/>
              </a:buClr>
              <a:buFont typeface="Wingdings" charset="2"/>
              <a:buChar char=""/>
            </a:pPr>
            <a:r>
              <a:rPr b="0" lang="en-US" sz="1050" spc="-1" strike="noStrike">
                <a:solidFill>
                  <a:srgbClr val="ffffff"/>
                </a:solidFill>
                <a:latin typeface="Arial"/>
                <a:ea typeface="Arial"/>
              </a:rPr>
              <a:t>API key written in browser JavaScript</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Wingdings" charset="2"/>
              <a:buChar char=""/>
            </a:pPr>
            <a:r>
              <a:rPr b="0" lang="en-US" sz="1050" spc="-1" strike="noStrike">
                <a:solidFill>
                  <a:srgbClr val="ffffff"/>
                </a:solidFill>
                <a:latin typeface="Arial"/>
                <a:ea typeface="Arial"/>
              </a:rPr>
              <a:t>Visible in browser developer tools</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Wingdings" charset="2"/>
              <a:buChar char=""/>
            </a:pPr>
            <a:r>
              <a:rPr b="0" lang="en-US" sz="1050" spc="-1" strike="noStrike">
                <a:solidFill>
                  <a:srgbClr val="ffffff"/>
                </a:solidFill>
                <a:latin typeface="Arial"/>
                <a:ea typeface="Arial"/>
              </a:rPr>
              <a:t>Stored inside the public GitHub repo</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Wingdings" charset="2"/>
              <a:buChar char=""/>
            </a:pPr>
            <a:r>
              <a:rPr b="0" lang="en-US" sz="1050" spc="-1" strike="noStrike">
                <a:solidFill>
                  <a:srgbClr val="ffffff"/>
                </a:solidFill>
                <a:latin typeface="Arial"/>
                <a:ea typeface="Arial"/>
              </a:rPr>
              <a:t>A leaked key can cause unwanted API costs</a:t>
            </a:r>
            <a:endParaRPr b="0" lang="en-US" sz="1050" spc="-1" strike="noStrike">
              <a:solidFill>
                <a:srgbClr val="ffffff"/>
              </a:solidFill>
              <a:latin typeface="Arial"/>
            </a:endParaRPr>
          </a:p>
        </p:txBody>
      </p:sp>
      <p:sp>
        <p:nvSpPr>
          <p:cNvPr id="320" name="Shape 12"/>
          <p:cNvSpPr/>
          <p:nvPr/>
        </p:nvSpPr>
        <p:spPr>
          <a:xfrm>
            <a:off x="4709160" y="1737360"/>
            <a:ext cx="3974040" cy="3059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1" name="Shape 13"/>
          <p:cNvSpPr/>
          <p:nvPr/>
        </p:nvSpPr>
        <p:spPr>
          <a:xfrm>
            <a:off x="4709160" y="1737360"/>
            <a:ext cx="39740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22" name="Text 14"/>
          <p:cNvSpPr/>
          <p:nvPr/>
        </p:nvSpPr>
        <p:spPr>
          <a:xfrm>
            <a:off x="4910400" y="1883520"/>
            <a:ext cx="357156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72" strike="noStrike">
                <a:solidFill>
                  <a:srgbClr val="22c55e"/>
                </a:solidFill>
                <a:latin typeface="Arial"/>
                <a:ea typeface="Arial"/>
              </a:rPr>
              <a:t>AFTER</a:t>
            </a:r>
            <a:endParaRPr b="0" lang="en-US" sz="1200" spc="-1" strike="noStrike">
              <a:solidFill>
                <a:srgbClr val="ffffff"/>
              </a:solidFill>
              <a:latin typeface="Arial"/>
            </a:endParaRPr>
          </a:p>
        </p:txBody>
      </p:sp>
      <p:sp>
        <p:nvSpPr>
          <p:cNvPr id="323" name="Text 15"/>
          <p:cNvSpPr/>
          <p:nvPr/>
        </p:nvSpPr>
        <p:spPr>
          <a:xfrm>
            <a:off x="4910400" y="2286000"/>
            <a:ext cx="3571560" cy="23281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1599"/>
              </a:spcAft>
              <a:buClr>
                <a:srgbClr val="ffffff"/>
              </a:buClr>
              <a:buFont typeface="OpenSymbol"/>
              <a:buChar char="✓"/>
            </a:pPr>
            <a:r>
              <a:rPr b="0" lang="en-US" sz="1050" spc="-1" strike="noStrike">
                <a:solidFill>
                  <a:srgbClr val="ffffff"/>
                </a:solidFill>
                <a:latin typeface="Arial"/>
                <a:ea typeface="Arial"/>
              </a:rPr>
              <a:t>The key lives only on the secure server</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OpenSymbol"/>
              <a:buChar char="✓"/>
            </a:pPr>
            <a:r>
              <a:rPr b="0" lang="en-US" sz="1050" spc="-1" strike="noStrike">
                <a:solidFill>
                  <a:srgbClr val="ffffff"/>
                </a:solidFill>
                <a:latin typeface="Arial"/>
                <a:ea typeface="Arial"/>
              </a:rPr>
              <a:t>The browser calls our function, not Gemini directly</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OpenSymbol"/>
              <a:buChar char="✓"/>
            </a:pPr>
            <a:r>
              <a:rPr b="0" lang="en-US" sz="1050" spc="-1" strike="noStrike">
                <a:solidFill>
                  <a:srgbClr val="ffffff"/>
                </a:solidFill>
                <a:latin typeface="Arial"/>
                <a:ea typeface="Arial"/>
              </a:rPr>
              <a:t>The key is a server-side environment variable</a:t>
            </a:r>
            <a:endParaRPr b="0" lang="en-US" sz="1050" spc="-1" strike="noStrike">
              <a:solidFill>
                <a:srgbClr val="ffffff"/>
              </a:solidFill>
              <a:latin typeface="Arial"/>
            </a:endParaRPr>
          </a:p>
          <a:p>
            <a:pPr marL="343080" indent="-343080" defTabSz="914400">
              <a:lnSpc>
                <a:spcPct val="100000"/>
              </a:lnSpc>
              <a:spcAft>
                <a:spcPts val="1599"/>
              </a:spcAft>
              <a:buClr>
                <a:srgbClr val="ffffff"/>
              </a:buClr>
              <a:buFont typeface="OpenSymbol"/>
              <a:buChar char="✓"/>
            </a:pPr>
            <a:r>
              <a:rPr b="0" lang="en-US" sz="1050" spc="-1" strike="noStrike">
                <a:solidFill>
                  <a:srgbClr val="ffffff"/>
                </a:solidFill>
                <a:latin typeface="Arial"/>
                <a:ea typeface="Arial"/>
              </a:rPr>
              <a:t>No Gemini secret is stored in the repository</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324"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5"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326" name="Image 0" descr="/home/claude/build/logo.png"/>
          <p:cNvPicPr/>
          <p:nvPr/>
        </p:nvPicPr>
        <p:blipFill>
          <a:blip r:embed="rId1"/>
          <a:stretch/>
        </p:blipFill>
        <p:spPr>
          <a:xfrm>
            <a:off x="320040" y="201240"/>
            <a:ext cx="563400" cy="453600"/>
          </a:xfrm>
          <a:prstGeom prst="rect">
            <a:avLst/>
          </a:prstGeom>
          <a:ln w="0">
            <a:noFill/>
          </a:ln>
        </p:spPr>
      </p:pic>
      <p:sp>
        <p:nvSpPr>
          <p:cNvPr id="327"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328"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329"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12 / 15</a:t>
            </a:r>
            <a:endParaRPr b="0" lang="en-US" sz="1000" spc="-1" strike="noStrike">
              <a:solidFill>
                <a:srgbClr val="ffffff"/>
              </a:solidFill>
              <a:latin typeface="Arial"/>
            </a:endParaRPr>
          </a:p>
        </p:txBody>
      </p:sp>
      <p:sp>
        <p:nvSpPr>
          <p:cNvPr id="330"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Quality Engineering &amp; Testing</a:t>
            </a:r>
            <a:endParaRPr b="0" lang="en-US" sz="2600" spc="-1" strike="noStrike">
              <a:solidFill>
                <a:srgbClr val="ffffff"/>
              </a:solidFill>
              <a:latin typeface="Arial"/>
            </a:endParaRPr>
          </a:p>
        </p:txBody>
      </p:sp>
      <p:sp>
        <p:nvSpPr>
          <p:cNvPr id="331"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332" name="Text 7"/>
          <p:cNvSpPr/>
          <p:nvPr/>
        </p:nvSpPr>
        <p:spPr>
          <a:xfrm>
            <a:off x="457200" y="1371600"/>
            <a:ext cx="82260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Built like production software, not a demo</a:t>
            </a:r>
            <a:endParaRPr b="0" lang="en-US" sz="1200" spc="-1" strike="noStrike">
              <a:solidFill>
                <a:srgbClr val="ffffff"/>
              </a:solidFill>
              <a:latin typeface="Arial"/>
            </a:endParaRPr>
          </a:p>
        </p:txBody>
      </p:sp>
      <p:sp>
        <p:nvSpPr>
          <p:cNvPr id="333" name="Shape 8"/>
          <p:cNvSpPr/>
          <p:nvPr/>
        </p:nvSpPr>
        <p:spPr>
          <a:xfrm>
            <a:off x="457200" y="1783080"/>
            <a:ext cx="2602440" cy="11851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4" name="Shape 9"/>
          <p:cNvSpPr/>
          <p:nvPr/>
        </p:nvSpPr>
        <p:spPr>
          <a:xfrm>
            <a:off x="457200" y="1783080"/>
            <a:ext cx="26024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35" name="Text 10"/>
          <p:cNvSpPr/>
          <p:nvPr/>
        </p:nvSpPr>
        <p:spPr>
          <a:xfrm>
            <a:off x="457200" y="1892880"/>
            <a:ext cx="2602440" cy="59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200" spc="-1" strike="noStrike">
                <a:solidFill>
                  <a:srgbClr val="3b82f6"/>
                </a:solidFill>
                <a:latin typeface="Arial Black"/>
                <a:ea typeface="Arial Black"/>
              </a:rPr>
              <a:t>131</a:t>
            </a:r>
            <a:endParaRPr b="0" lang="en-US" sz="3200" spc="-1" strike="noStrike">
              <a:solidFill>
                <a:srgbClr val="ffffff"/>
              </a:solidFill>
              <a:latin typeface="Arial"/>
            </a:endParaRPr>
          </a:p>
        </p:txBody>
      </p:sp>
      <p:sp>
        <p:nvSpPr>
          <p:cNvPr id="336" name="Text 11"/>
          <p:cNvSpPr/>
          <p:nvPr/>
        </p:nvSpPr>
        <p:spPr>
          <a:xfrm>
            <a:off x="457200" y="2560320"/>
            <a:ext cx="260244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94a3b8"/>
                </a:solidFill>
                <a:latin typeface="Arial"/>
                <a:ea typeface="Arial"/>
              </a:rPr>
              <a:t>Automated Tests</a:t>
            </a:r>
            <a:endParaRPr b="0" lang="en-US" sz="1100" spc="-1" strike="noStrike">
              <a:solidFill>
                <a:srgbClr val="ffffff"/>
              </a:solidFill>
              <a:latin typeface="Arial"/>
            </a:endParaRPr>
          </a:p>
        </p:txBody>
      </p:sp>
      <p:sp>
        <p:nvSpPr>
          <p:cNvPr id="337" name="Shape 12"/>
          <p:cNvSpPr/>
          <p:nvPr/>
        </p:nvSpPr>
        <p:spPr>
          <a:xfrm>
            <a:off x="3200400" y="1783080"/>
            <a:ext cx="2602440" cy="11851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38" name="Shape 13"/>
          <p:cNvSpPr/>
          <p:nvPr/>
        </p:nvSpPr>
        <p:spPr>
          <a:xfrm>
            <a:off x="3200400" y="1783080"/>
            <a:ext cx="26024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39" name="Text 14"/>
          <p:cNvSpPr/>
          <p:nvPr/>
        </p:nvSpPr>
        <p:spPr>
          <a:xfrm>
            <a:off x="3200400" y="1892880"/>
            <a:ext cx="2602440" cy="59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200" spc="-1" strike="noStrike">
                <a:solidFill>
                  <a:srgbClr val="22c55e"/>
                </a:solidFill>
                <a:latin typeface="Arial Black"/>
                <a:ea typeface="Arial Black"/>
              </a:rPr>
              <a:t>11</a:t>
            </a:r>
            <a:endParaRPr b="0" lang="en-US" sz="3200" spc="-1" strike="noStrike">
              <a:solidFill>
                <a:srgbClr val="ffffff"/>
              </a:solidFill>
              <a:latin typeface="Arial"/>
            </a:endParaRPr>
          </a:p>
        </p:txBody>
      </p:sp>
      <p:sp>
        <p:nvSpPr>
          <p:cNvPr id="340" name="Text 15"/>
          <p:cNvSpPr/>
          <p:nvPr/>
        </p:nvSpPr>
        <p:spPr>
          <a:xfrm>
            <a:off x="3200400" y="2560320"/>
            <a:ext cx="260244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94a3b8"/>
                </a:solidFill>
                <a:latin typeface="Arial"/>
                <a:ea typeface="Arial"/>
              </a:rPr>
              <a:t>Test Suites</a:t>
            </a:r>
            <a:endParaRPr b="0" lang="en-US" sz="1100" spc="-1" strike="noStrike">
              <a:solidFill>
                <a:srgbClr val="ffffff"/>
              </a:solidFill>
              <a:latin typeface="Arial"/>
            </a:endParaRPr>
          </a:p>
        </p:txBody>
      </p:sp>
      <p:sp>
        <p:nvSpPr>
          <p:cNvPr id="341" name="Shape 16"/>
          <p:cNvSpPr/>
          <p:nvPr/>
        </p:nvSpPr>
        <p:spPr>
          <a:xfrm>
            <a:off x="5943600" y="1783080"/>
            <a:ext cx="2602440" cy="118512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2" name="Shape 17"/>
          <p:cNvSpPr/>
          <p:nvPr/>
        </p:nvSpPr>
        <p:spPr>
          <a:xfrm>
            <a:off x="5943600" y="1783080"/>
            <a:ext cx="26024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343" name="Text 18"/>
          <p:cNvSpPr/>
          <p:nvPr/>
        </p:nvSpPr>
        <p:spPr>
          <a:xfrm>
            <a:off x="5943600" y="1892880"/>
            <a:ext cx="2602440" cy="59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200" spc="-1" strike="noStrike">
                <a:solidFill>
                  <a:srgbClr val="f59e0b"/>
                </a:solidFill>
                <a:latin typeface="Arial Black"/>
                <a:ea typeface="Arial Black"/>
              </a:rPr>
              <a:t>0</a:t>
            </a:r>
            <a:endParaRPr b="0" lang="en-US" sz="3200" spc="-1" strike="noStrike">
              <a:solidFill>
                <a:srgbClr val="ffffff"/>
              </a:solidFill>
              <a:latin typeface="Arial"/>
            </a:endParaRPr>
          </a:p>
        </p:txBody>
      </p:sp>
      <p:sp>
        <p:nvSpPr>
          <p:cNvPr id="344" name="Text 19"/>
          <p:cNvSpPr/>
          <p:nvPr/>
        </p:nvSpPr>
        <p:spPr>
          <a:xfrm>
            <a:off x="5943600" y="2560320"/>
            <a:ext cx="260244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94a3b8"/>
                </a:solidFill>
                <a:latin typeface="Arial"/>
                <a:ea typeface="Arial"/>
              </a:rPr>
              <a:t>Failures</a:t>
            </a:r>
            <a:endParaRPr b="0" lang="en-US" sz="1100" spc="-1" strike="noStrike">
              <a:solidFill>
                <a:srgbClr val="ffffff"/>
              </a:solidFill>
              <a:latin typeface="Arial"/>
            </a:endParaRPr>
          </a:p>
        </p:txBody>
      </p:sp>
      <p:sp>
        <p:nvSpPr>
          <p:cNvPr id="345" name="Shape 20"/>
          <p:cNvSpPr/>
          <p:nvPr/>
        </p:nvSpPr>
        <p:spPr>
          <a:xfrm>
            <a:off x="457200" y="3154680"/>
            <a:ext cx="8226000" cy="15966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6" name="Shape 21"/>
          <p:cNvSpPr/>
          <p:nvPr/>
        </p:nvSpPr>
        <p:spPr>
          <a:xfrm>
            <a:off x="457200" y="3154680"/>
            <a:ext cx="822600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47" name="Text 22"/>
          <p:cNvSpPr/>
          <p:nvPr/>
        </p:nvSpPr>
        <p:spPr>
          <a:xfrm>
            <a:off x="658440" y="3319200"/>
            <a:ext cx="776880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  </a:t>
            </a:r>
            <a:r>
              <a:rPr b="1" lang="en-US" sz="1300" spc="-1" strike="noStrike">
                <a:solidFill>
                  <a:srgbClr val="ffffff"/>
                </a:solidFill>
                <a:latin typeface="Arial"/>
                <a:ea typeface="Arial"/>
              </a:rPr>
              <a:t>Real bug found in QA — and fixed</a:t>
            </a:r>
            <a:endParaRPr b="0" lang="en-US" sz="1300" spc="-1" strike="noStrike">
              <a:solidFill>
                <a:srgbClr val="ffffff"/>
              </a:solidFill>
              <a:latin typeface="Arial"/>
            </a:endParaRPr>
          </a:p>
        </p:txBody>
      </p:sp>
      <p:sp>
        <p:nvSpPr>
          <p:cNvPr id="348" name="Text 23"/>
          <p:cNvSpPr/>
          <p:nvPr/>
        </p:nvSpPr>
        <p:spPr>
          <a:xfrm>
            <a:off x="658440" y="3684960"/>
            <a:ext cx="7768800" cy="819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94a3b8"/>
                </a:solidFill>
                <a:latin typeface="Arial"/>
                <a:ea typeface="Arial"/>
              </a:rPr>
              <a:t>The gamification system's IPv6 point category was unreachable — both calculators shared one button, so activity always logged as “subnet.” Fixed by detecting IPv4 vs. IPv6 at the point of use, and tightening scoring to trigger only on valid input.</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349"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0"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351" name="Image 0" descr="/home/claude/build/logo.png"/>
          <p:cNvPicPr/>
          <p:nvPr/>
        </p:nvPicPr>
        <p:blipFill>
          <a:blip r:embed="rId1"/>
          <a:stretch/>
        </p:blipFill>
        <p:spPr>
          <a:xfrm>
            <a:off x="320040" y="201240"/>
            <a:ext cx="563400" cy="453600"/>
          </a:xfrm>
          <a:prstGeom prst="rect">
            <a:avLst/>
          </a:prstGeom>
          <a:ln w="0">
            <a:noFill/>
          </a:ln>
        </p:spPr>
      </p:pic>
      <p:sp>
        <p:nvSpPr>
          <p:cNvPr id="352"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353"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354"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13 / 15</a:t>
            </a:r>
            <a:endParaRPr b="0" lang="en-US" sz="1000" spc="-1" strike="noStrike">
              <a:solidFill>
                <a:srgbClr val="ffffff"/>
              </a:solidFill>
              <a:latin typeface="Arial"/>
            </a:endParaRPr>
          </a:p>
        </p:txBody>
      </p:sp>
      <p:sp>
        <p:nvSpPr>
          <p:cNvPr id="355"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Gamification &amp; Engagement</a:t>
            </a:r>
            <a:endParaRPr b="0" lang="en-US" sz="2600" spc="-1" strike="noStrike">
              <a:solidFill>
                <a:srgbClr val="ffffff"/>
              </a:solidFill>
              <a:latin typeface="Arial"/>
            </a:endParaRPr>
          </a:p>
        </p:txBody>
      </p:sp>
      <p:sp>
        <p:nvSpPr>
          <p:cNvPr id="356"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357" name="Text 7"/>
          <p:cNvSpPr/>
          <p:nvPr/>
        </p:nvSpPr>
        <p:spPr>
          <a:xfrm>
            <a:off x="457200" y="1371600"/>
            <a:ext cx="82260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200" spc="-1" strike="noStrike">
                <a:solidFill>
                  <a:srgbClr val="a8c4e0"/>
                </a:solidFill>
                <a:latin typeface="Arial"/>
                <a:ea typeface="Arial"/>
              </a:rPr>
              <a:t>Turning practice into progress</a:t>
            </a:r>
            <a:endParaRPr b="0" lang="en-US" sz="1200" spc="-1" strike="noStrike">
              <a:solidFill>
                <a:srgbClr val="ffffff"/>
              </a:solidFill>
              <a:latin typeface="Arial"/>
            </a:endParaRPr>
          </a:p>
        </p:txBody>
      </p:sp>
      <p:sp>
        <p:nvSpPr>
          <p:cNvPr id="358" name="Text 8"/>
          <p:cNvSpPr/>
          <p:nvPr/>
        </p:nvSpPr>
        <p:spPr>
          <a:xfrm>
            <a:off x="457200" y="1627560"/>
            <a:ext cx="8226000" cy="289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Valid tool use earns points. Points build levels and badges. Progress is stored locally in the browser.</a:t>
            </a:r>
            <a:endParaRPr b="0" lang="en-US" sz="1000" spc="-1" strike="noStrike">
              <a:solidFill>
                <a:srgbClr val="ffffff"/>
              </a:solidFill>
              <a:latin typeface="Arial"/>
            </a:endParaRPr>
          </a:p>
        </p:txBody>
      </p:sp>
      <p:sp>
        <p:nvSpPr>
          <p:cNvPr id="359" name="Shape 9"/>
          <p:cNvSpPr/>
          <p:nvPr/>
        </p:nvSpPr>
        <p:spPr>
          <a:xfrm>
            <a:off x="45720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0" name="Shape 10"/>
          <p:cNvSpPr/>
          <p:nvPr/>
        </p:nvSpPr>
        <p:spPr>
          <a:xfrm>
            <a:off x="457200" y="2103120"/>
            <a:ext cx="129492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61" name="Text 11"/>
          <p:cNvSpPr/>
          <p:nvPr/>
        </p:nvSpPr>
        <p:spPr>
          <a:xfrm>
            <a:off x="53028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Subnetting</a:t>
            </a:r>
            <a:endParaRPr b="0" lang="en-US" sz="950" spc="-1" strike="noStrike">
              <a:solidFill>
                <a:srgbClr val="ffffff"/>
              </a:solidFill>
              <a:latin typeface="Arial"/>
            </a:endParaRPr>
          </a:p>
        </p:txBody>
      </p:sp>
      <p:sp>
        <p:nvSpPr>
          <p:cNvPr id="362" name="Text 12"/>
          <p:cNvSpPr/>
          <p:nvPr/>
        </p:nvSpPr>
        <p:spPr>
          <a:xfrm>
            <a:off x="53028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10 pts</a:t>
            </a:r>
            <a:endParaRPr b="0" lang="en-US" sz="1000" spc="-1" strike="noStrike">
              <a:solidFill>
                <a:srgbClr val="ffffff"/>
              </a:solidFill>
              <a:latin typeface="Arial"/>
            </a:endParaRPr>
          </a:p>
        </p:txBody>
      </p:sp>
      <p:sp>
        <p:nvSpPr>
          <p:cNvPr id="363" name="Shape 13"/>
          <p:cNvSpPr/>
          <p:nvPr/>
        </p:nvSpPr>
        <p:spPr>
          <a:xfrm>
            <a:off x="187452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4" name="Shape 14"/>
          <p:cNvSpPr/>
          <p:nvPr/>
        </p:nvSpPr>
        <p:spPr>
          <a:xfrm>
            <a:off x="1874520" y="2103120"/>
            <a:ext cx="129492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65" name="Text 15"/>
          <p:cNvSpPr/>
          <p:nvPr/>
        </p:nvSpPr>
        <p:spPr>
          <a:xfrm>
            <a:off x="194760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IP Compare</a:t>
            </a:r>
            <a:endParaRPr b="0" lang="en-US" sz="950" spc="-1" strike="noStrike">
              <a:solidFill>
                <a:srgbClr val="ffffff"/>
              </a:solidFill>
              <a:latin typeface="Arial"/>
            </a:endParaRPr>
          </a:p>
        </p:txBody>
      </p:sp>
      <p:sp>
        <p:nvSpPr>
          <p:cNvPr id="366" name="Text 16"/>
          <p:cNvSpPr/>
          <p:nvPr/>
        </p:nvSpPr>
        <p:spPr>
          <a:xfrm>
            <a:off x="194760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10 pts</a:t>
            </a:r>
            <a:endParaRPr b="0" lang="en-US" sz="1000" spc="-1" strike="noStrike">
              <a:solidFill>
                <a:srgbClr val="ffffff"/>
              </a:solidFill>
              <a:latin typeface="Arial"/>
            </a:endParaRPr>
          </a:p>
        </p:txBody>
      </p:sp>
      <p:sp>
        <p:nvSpPr>
          <p:cNvPr id="367" name="Shape 17"/>
          <p:cNvSpPr/>
          <p:nvPr/>
        </p:nvSpPr>
        <p:spPr>
          <a:xfrm>
            <a:off x="329184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8" name="Shape 18"/>
          <p:cNvSpPr/>
          <p:nvPr/>
        </p:nvSpPr>
        <p:spPr>
          <a:xfrm>
            <a:off x="3291840" y="2103120"/>
            <a:ext cx="129492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369" name="Text 19"/>
          <p:cNvSpPr/>
          <p:nvPr/>
        </p:nvSpPr>
        <p:spPr>
          <a:xfrm>
            <a:off x="336492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IPv6</a:t>
            </a:r>
            <a:endParaRPr b="0" lang="en-US" sz="950" spc="-1" strike="noStrike">
              <a:solidFill>
                <a:srgbClr val="ffffff"/>
              </a:solidFill>
              <a:latin typeface="Arial"/>
            </a:endParaRPr>
          </a:p>
        </p:txBody>
      </p:sp>
      <p:sp>
        <p:nvSpPr>
          <p:cNvPr id="370" name="Text 20"/>
          <p:cNvSpPr/>
          <p:nvPr/>
        </p:nvSpPr>
        <p:spPr>
          <a:xfrm>
            <a:off x="336492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15 pts</a:t>
            </a:r>
            <a:endParaRPr b="0" lang="en-US" sz="1000" spc="-1" strike="noStrike">
              <a:solidFill>
                <a:srgbClr val="ffffff"/>
              </a:solidFill>
              <a:latin typeface="Arial"/>
            </a:endParaRPr>
          </a:p>
        </p:txBody>
      </p:sp>
      <p:sp>
        <p:nvSpPr>
          <p:cNvPr id="371" name="Shape 21"/>
          <p:cNvSpPr/>
          <p:nvPr/>
        </p:nvSpPr>
        <p:spPr>
          <a:xfrm>
            <a:off x="470916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2" name="Shape 22"/>
          <p:cNvSpPr/>
          <p:nvPr/>
        </p:nvSpPr>
        <p:spPr>
          <a:xfrm>
            <a:off x="4709160" y="2103120"/>
            <a:ext cx="129492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73" name="Text 23"/>
          <p:cNvSpPr/>
          <p:nvPr/>
        </p:nvSpPr>
        <p:spPr>
          <a:xfrm>
            <a:off x="478224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Dijkstra</a:t>
            </a:r>
            <a:endParaRPr b="0" lang="en-US" sz="950" spc="-1" strike="noStrike">
              <a:solidFill>
                <a:srgbClr val="ffffff"/>
              </a:solidFill>
              <a:latin typeface="Arial"/>
            </a:endParaRPr>
          </a:p>
        </p:txBody>
      </p:sp>
      <p:sp>
        <p:nvSpPr>
          <p:cNvPr id="374" name="Text 24"/>
          <p:cNvSpPr/>
          <p:nvPr/>
        </p:nvSpPr>
        <p:spPr>
          <a:xfrm>
            <a:off x="478224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25 pts</a:t>
            </a:r>
            <a:endParaRPr b="0" lang="en-US" sz="1000" spc="-1" strike="noStrike">
              <a:solidFill>
                <a:srgbClr val="ffffff"/>
              </a:solidFill>
              <a:latin typeface="Arial"/>
            </a:endParaRPr>
          </a:p>
        </p:txBody>
      </p:sp>
      <p:sp>
        <p:nvSpPr>
          <p:cNvPr id="375" name="Shape 25"/>
          <p:cNvSpPr/>
          <p:nvPr/>
        </p:nvSpPr>
        <p:spPr>
          <a:xfrm>
            <a:off x="612648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6" name="Shape 26"/>
          <p:cNvSpPr/>
          <p:nvPr/>
        </p:nvSpPr>
        <p:spPr>
          <a:xfrm>
            <a:off x="6126480" y="2103120"/>
            <a:ext cx="129492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77" name="Text 27"/>
          <p:cNvSpPr/>
          <p:nvPr/>
        </p:nvSpPr>
        <p:spPr>
          <a:xfrm>
            <a:off x="619956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VLSM</a:t>
            </a:r>
            <a:endParaRPr b="0" lang="en-US" sz="950" spc="-1" strike="noStrike">
              <a:solidFill>
                <a:srgbClr val="ffffff"/>
              </a:solidFill>
              <a:latin typeface="Arial"/>
            </a:endParaRPr>
          </a:p>
        </p:txBody>
      </p:sp>
      <p:sp>
        <p:nvSpPr>
          <p:cNvPr id="378" name="Text 28"/>
          <p:cNvSpPr/>
          <p:nvPr/>
        </p:nvSpPr>
        <p:spPr>
          <a:xfrm>
            <a:off x="619956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20 pts</a:t>
            </a:r>
            <a:endParaRPr b="0" lang="en-US" sz="1000" spc="-1" strike="noStrike">
              <a:solidFill>
                <a:srgbClr val="ffffff"/>
              </a:solidFill>
              <a:latin typeface="Arial"/>
            </a:endParaRPr>
          </a:p>
        </p:txBody>
      </p:sp>
      <p:sp>
        <p:nvSpPr>
          <p:cNvPr id="379" name="Shape 29"/>
          <p:cNvSpPr/>
          <p:nvPr/>
        </p:nvSpPr>
        <p:spPr>
          <a:xfrm>
            <a:off x="7543800" y="2103120"/>
            <a:ext cx="1294920" cy="7736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0" name="Shape 30"/>
          <p:cNvSpPr/>
          <p:nvPr/>
        </p:nvSpPr>
        <p:spPr>
          <a:xfrm>
            <a:off x="7543800" y="2103120"/>
            <a:ext cx="129492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81" name="Text 31"/>
          <p:cNvSpPr/>
          <p:nvPr/>
        </p:nvSpPr>
        <p:spPr>
          <a:xfrm>
            <a:off x="7616880" y="2212920"/>
            <a:ext cx="114840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pc="-1" strike="noStrike">
                <a:solidFill>
                  <a:srgbClr val="ffffff"/>
                </a:solidFill>
                <a:latin typeface="Arial"/>
                <a:ea typeface="Arial"/>
              </a:rPr>
              <a:t>Anomaly Detection</a:t>
            </a:r>
            <a:endParaRPr b="0" lang="en-US" sz="950" spc="-1" strike="noStrike">
              <a:solidFill>
                <a:srgbClr val="ffffff"/>
              </a:solidFill>
              <a:latin typeface="Arial"/>
            </a:endParaRPr>
          </a:p>
        </p:txBody>
      </p:sp>
      <p:sp>
        <p:nvSpPr>
          <p:cNvPr id="382" name="Text 32"/>
          <p:cNvSpPr/>
          <p:nvPr/>
        </p:nvSpPr>
        <p:spPr>
          <a:xfrm>
            <a:off x="7616880" y="2578680"/>
            <a:ext cx="11484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a8c4e0"/>
                </a:solidFill>
                <a:latin typeface="Arial"/>
                <a:ea typeface="Arial"/>
              </a:rPr>
              <a:t>20 pts</a:t>
            </a:r>
            <a:endParaRPr b="0" lang="en-US" sz="1000" spc="-1" strike="noStrike">
              <a:solidFill>
                <a:srgbClr val="ffffff"/>
              </a:solidFill>
              <a:latin typeface="Arial"/>
            </a:endParaRPr>
          </a:p>
        </p:txBody>
      </p:sp>
      <p:sp>
        <p:nvSpPr>
          <p:cNvPr id="383" name="Text 33"/>
          <p:cNvSpPr/>
          <p:nvPr/>
        </p:nvSpPr>
        <p:spPr>
          <a:xfrm>
            <a:off x="457200" y="3154680"/>
            <a:ext cx="82260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50" spc="72" strike="noStrike">
                <a:solidFill>
                  <a:srgbClr val="94a3b8"/>
                </a:solidFill>
                <a:latin typeface="Arial"/>
                <a:ea typeface="Arial"/>
              </a:rPr>
              <a:t>UNLOCKABLE BADGES</a:t>
            </a:r>
            <a:endParaRPr b="0" lang="en-US" sz="1050" spc="-1" strike="noStrike">
              <a:solidFill>
                <a:srgbClr val="ffffff"/>
              </a:solidFill>
              <a:latin typeface="Arial"/>
            </a:endParaRPr>
          </a:p>
        </p:txBody>
      </p:sp>
      <p:sp>
        <p:nvSpPr>
          <p:cNvPr id="384" name="Shape 34"/>
          <p:cNvSpPr/>
          <p:nvPr/>
        </p:nvSpPr>
        <p:spPr>
          <a:xfrm>
            <a:off x="457200" y="3456360"/>
            <a:ext cx="1916640" cy="1230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5" name="Shape 35"/>
          <p:cNvSpPr/>
          <p:nvPr/>
        </p:nvSpPr>
        <p:spPr>
          <a:xfrm>
            <a:off x="457200" y="3456360"/>
            <a:ext cx="19166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86" name="Shape 36"/>
          <p:cNvSpPr/>
          <p:nvPr/>
        </p:nvSpPr>
        <p:spPr>
          <a:xfrm>
            <a:off x="1188720" y="3593520"/>
            <a:ext cx="453600" cy="453600"/>
          </a:xfrm>
          <a:prstGeom prst="roundRect">
            <a:avLst>
              <a:gd name="adj" fmla="val 16000"/>
            </a:avLst>
          </a:prstGeom>
          <a:solidFill>
            <a:srgbClr val="3b82f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7" name="Text 37"/>
          <p:cNvSpPr/>
          <p:nvPr/>
        </p:nvSpPr>
        <p:spPr>
          <a:xfrm>
            <a:off x="1188720" y="359352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388" name="Text 38"/>
          <p:cNvSpPr/>
          <p:nvPr/>
        </p:nvSpPr>
        <p:spPr>
          <a:xfrm>
            <a:off x="548640" y="4114800"/>
            <a:ext cx="173376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Arial"/>
                <a:ea typeface="Arial"/>
              </a:rPr>
              <a:t>Getting Started</a:t>
            </a:r>
            <a:endParaRPr b="0" lang="en-US" sz="1000" spc="-1" strike="noStrike">
              <a:solidFill>
                <a:srgbClr val="ffffff"/>
              </a:solidFill>
              <a:latin typeface="Arial"/>
            </a:endParaRPr>
          </a:p>
        </p:txBody>
      </p:sp>
      <p:sp>
        <p:nvSpPr>
          <p:cNvPr id="389" name="Text 39"/>
          <p:cNvSpPr/>
          <p:nvPr/>
        </p:nvSpPr>
        <p:spPr>
          <a:xfrm>
            <a:off x="548640" y="4389120"/>
            <a:ext cx="1733760" cy="22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94a3b8"/>
                </a:solidFill>
                <a:latin typeface="Arial"/>
                <a:ea typeface="Arial"/>
              </a:rPr>
              <a:t>0+ pts</a:t>
            </a:r>
            <a:endParaRPr b="0" lang="en-US" sz="900" spc="-1" strike="noStrike">
              <a:solidFill>
                <a:srgbClr val="ffffff"/>
              </a:solidFill>
              <a:latin typeface="Arial"/>
            </a:endParaRPr>
          </a:p>
        </p:txBody>
      </p:sp>
      <p:sp>
        <p:nvSpPr>
          <p:cNvPr id="390" name="Shape 40"/>
          <p:cNvSpPr/>
          <p:nvPr/>
        </p:nvSpPr>
        <p:spPr>
          <a:xfrm>
            <a:off x="2523600" y="3456360"/>
            <a:ext cx="1916640" cy="1230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1" name="Shape 41"/>
          <p:cNvSpPr/>
          <p:nvPr/>
        </p:nvSpPr>
        <p:spPr>
          <a:xfrm>
            <a:off x="2523600" y="3456360"/>
            <a:ext cx="19166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392" name="Shape 42"/>
          <p:cNvSpPr/>
          <p:nvPr/>
        </p:nvSpPr>
        <p:spPr>
          <a:xfrm>
            <a:off x="3255120" y="3593520"/>
            <a:ext cx="453600" cy="453600"/>
          </a:xfrm>
          <a:prstGeom prst="roundRect">
            <a:avLst>
              <a:gd name="adj" fmla="val 16000"/>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3" name="Text 43"/>
          <p:cNvSpPr/>
          <p:nvPr/>
        </p:nvSpPr>
        <p:spPr>
          <a:xfrm>
            <a:off x="3255120" y="359352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394" name="Text 44"/>
          <p:cNvSpPr/>
          <p:nvPr/>
        </p:nvSpPr>
        <p:spPr>
          <a:xfrm>
            <a:off x="2615040" y="4114800"/>
            <a:ext cx="173376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Arial"/>
                <a:ea typeface="Arial"/>
              </a:rPr>
              <a:t>Network Explorer</a:t>
            </a:r>
            <a:endParaRPr b="0" lang="en-US" sz="1000" spc="-1" strike="noStrike">
              <a:solidFill>
                <a:srgbClr val="ffffff"/>
              </a:solidFill>
              <a:latin typeface="Arial"/>
            </a:endParaRPr>
          </a:p>
        </p:txBody>
      </p:sp>
      <p:sp>
        <p:nvSpPr>
          <p:cNvPr id="395" name="Text 45"/>
          <p:cNvSpPr/>
          <p:nvPr/>
        </p:nvSpPr>
        <p:spPr>
          <a:xfrm>
            <a:off x="2615040" y="4389120"/>
            <a:ext cx="1733760" cy="22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94a3b8"/>
                </a:solidFill>
                <a:latin typeface="Arial"/>
                <a:ea typeface="Arial"/>
              </a:rPr>
              <a:t>50+ pts</a:t>
            </a:r>
            <a:endParaRPr b="0" lang="en-US" sz="900" spc="-1" strike="noStrike">
              <a:solidFill>
                <a:srgbClr val="ffffff"/>
              </a:solidFill>
              <a:latin typeface="Arial"/>
            </a:endParaRPr>
          </a:p>
        </p:txBody>
      </p:sp>
      <p:sp>
        <p:nvSpPr>
          <p:cNvPr id="396" name="Shape 46"/>
          <p:cNvSpPr/>
          <p:nvPr/>
        </p:nvSpPr>
        <p:spPr>
          <a:xfrm>
            <a:off x="4590360" y="3456360"/>
            <a:ext cx="1916640" cy="1230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7" name="Shape 47"/>
          <p:cNvSpPr/>
          <p:nvPr/>
        </p:nvSpPr>
        <p:spPr>
          <a:xfrm>
            <a:off x="4590360" y="3456360"/>
            <a:ext cx="19166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398" name="Shape 48"/>
          <p:cNvSpPr/>
          <p:nvPr/>
        </p:nvSpPr>
        <p:spPr>
          <a:xfrm>
            <a:off x="5321880" y="3593520"/>
            <a:ext cx="453600" cy="453600"/>
          </a:xfrm>
          <a:prstGeom prst="roundRect">
            <a:avLst>
              <a:gd name="adj" fmla="val 16000"/>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9" name="Text 49"/>
          <p:cNvSpPr/>
          <p:nvPr/>
        </p:nvSpPr>
        <p:spPr>
          <a:xfrm>
            <a:off x="5321880" y="359352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400" name="Text 50"/>
          <p:cNvSpPr/>
          <p:nvPr/>
        </p:nvSpPr>
        <p:spPr>
          <a:xfrm>
            <a:off x="4681800" y="4114800"/>
            <a:ext cx="173376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Arial"/>
                <a:ea typeface="Arial"/>
              </a:rPr>
              <a:t>Subnet Master</a:t>
            </a:r>
            <a:endParaRPr b="0" lang="en-US" sz="1000" spc="-1" strike="noStrike">
              <a:solidFill>
                <a:srgbClr val="ffffff"/>
              </a:solidFill>
              <a:latin typeface="Arial"/>
            </a:endParaRPr>
          </a:p>
        </p:txBody>
      </p:sp>
      <p:sp>
        <p:nvSpPr>
          <p:cNvPr id="401" name="Text 51"/>
          <p:cNvSpPr/>
          <p:nvPr/>
        </p:nvSpPr>
        <p:spPr>
          <a:xfrm>
            <a:off x="4681800" y="4389120"/>
            <a:ext cx="1733760" cy="22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94a3b8"/>
                </a:solidFill>
                <a:latin typeface="Arial"/>
                <a:ea typeface="Arial"/>
              </a:rPr>
              <a:t>150+ pts</a:t>
            </a:r>
            <a:endParaRPr b="0" lang="en-US" sz="900" spc="-1" strike="noStrike">
              <a:solidFill>
                <a:srgbClr val="ffffff"/>
              </a:solidFill>
              <a:latin typeface="Arial"/>
            </a:endParaRPr>
          </a:p>
        </p:txBody>
      </p:sp>
      <p:sp>
        <p:nvSpPr>
          <p:cNvPr id="402" name="Shape 52"/>
          <p:cNvSpPr/>
          <p:nvPr/>
        </p:nvSpPr>
        <p:spPr>
          <a:xfrm>
            <a:off x="6656760" y="3456360"/>
            <a:ext cx="1916640" cy="123084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3" name="Shape 53"/>
          <p:cNvSpPr/>
          <p:nvPr/>
        </p:nvSpPr>
        <p:spPr>
          <a:xfrm>
            <a:off x="6656760" y="3456360"/>
            <a:ext cx="19166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404" name="Shape 54"/>
          <p:cNvSpPr/>
          <p:nvPr/>
        </p:nvSpPr>
        <p:spPr>
          <a:xfrm>
            <a:off x="7388280" y="3593520"/>
            <a:ext cx="453600" cy="453600"/>
          </a:xfrm>
          <a:prstGeom prst="roundRect">
            <a:avLst>
              <a:gd name="adj" fmla="val 16000"/>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5" name="Text 55"/>
          <p:cNvSpPr/>
          <p:nvPr/>
        </p:nvSpPr>
        <p:spPr>
          <a:xfrm>
            <a:off x="7388280" y="3593520"/>
            <a:ext cx="453600" cy="45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pc="-1" strike="noStrike">
                <a:solidFill>
                  <a:srgbClr val="ffffff"/>
                </a:solidFill>
                <a:latin typeface="Arial"/>
                <a:ea typeface="Arial"/>
              </a:rPr>
              <a:t>★</a:t>
            </a:r>
            <a:endParaRPr b="0" lang="en-US" sz="1500" spc="-1" strike="noStrike">
              <a:solidFill>
                <a:srgbClr val="ffffff"/>
              </a:solidFill>
              <a:latin typeface="Arial"/>
            </a:endParaRPr>
          </a:p>
        </p:txBody>
      </p:sp>
      <p:sp>
        <p:nvSpPr>
          <p:cNvPr id="406" name="Text 56"/>
          <p:cNvSpPr/>
          <p:nvPr/>
        </p:nvSpPr>
        <p:spPr>
          <a:xfrm>
            <a:off x="6748200" y="4114800"/>
            <a:ext cx="1733760" cy="270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Arial"/>
                <a:ea typeface="Arial"/>
              </a:rPr>
              <a:t>NetXpert Legend</a:t>
            </a:r>
            <a:endParaRPr b="0" lang="en-US" sz="1000" spc="-1" strike="noStrike">
              <a:solidFill>
                <a:srgbClr val="ffffff"/>
              </a:solidFill>
              <a:latin typeface="Arial"/>
            </a:endParaRPr>
          </a:p>
        </p:txBody>
      </p:sp>
      <p:sp>
        <p:nvSpPr>
          <p:cNvPr id="407" name="Text 57"/>
          <p:cNvSpPr/>
          <p:nvPr/>
        </p:nvSpPr>
        <p:spPr>
          <a:xfrm>
            <a:off x="6748200" y="4389120"/>
            <a:ext cx="1733760" cy="225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pc="-1" strike="noStrike">
                <a:solidFill>
                  <a:srgbClr val="94a3b8"/>
                </a:solidFill>
                <a:latin typeface="Arial"/>
                <a:ea typeface="Arial"/>
              </a:rPr>
              <a:t>300+ pts</a:t>
            </a:r>
            <a:endParaRPr b="0" lang="en-US" sz="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408"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9"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410" name="Image 0" descr="/home/claude/build/logo.png"/>
          <p:cNvPicPr/>
          <p:nvPr/>
        </p:nvPicPr>
        <p:blipFill>
          <a:blip r:embed="rId1"/>
          <a:stretch/>
        </p:blipFill>
        <p:spPr>
          <a:xfrm>
            <a:off x="320040" y="201240"/>
            <a:ext cx="563400" cy="453600"/>
          </a:xfrm>
          <a:prstGeom prst="rect">
            <a:avLst/>
          </a:prstGeom>
          <a:ln w="0">
            <a:noFill/>
          </a:ln>
        </p:spPr>
      </p:pic>
      <p:sp>
        <p:nvSpPr>
          <p:cNvPr id="411" name="Text 2"/>
          <p:cNvSpPr/>
          <p:nvPr/>
        </p:nvSpPr>
        <p:spPr>
          <a:xfrm>
            <a:off x="1005840" y="2012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412" name="Text 3"/>
          <p:cNvSpPr/>
          <p:nvPr/>
        </p:nvSpPr>
        <p:spPr>
          <a:xfrm>
            <a:off x="1005840" y="4572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Isra University  ·  Dept. of IT &amp; Networking  ·  2026</a:t>
            </a:r>
            <a:endParaRPr b="0" lang="en-US" sz="900" spc="-1" strike="noStrike">
              <a:solidFill>
                <a:srgbClr val="ffffff"/>
              </a:solidFill>
              <a:latin typeface="Arial"/>
            </a:endParaRPr>
          </a:p>
        </p:txBody>
      </p:sp>
      <p:sp>
        <p:nvSpPr>
          <p:cNvPr id="413" name="Text 4"/>
          <p:cNvSpPr/>
          <p:nvPr/>
        </p:nvSpPr>
        <p:spPr>
          <a:xfrm>
            <a:off x="6949440" y="255960"/>
            <a:ext cx="1870920" cy="2250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000" spc="-1" strike="noStrike">
                <a:solidFill>
                  <a:srgbClr val="a8c4e0"/>
                </a:solidFill>
                <a:latin typeface="Arial"/>
                <a:ea typeface="Arial"/>
              </a:rPr>
              <a:t>14 / 15</a:t>
            </a:r>
            <a:endParaRPr b="0" lang="en-US" sz="1000" spc="-1" strike="noStrike">
              <a:solidFill>
                <a:srgbClr val="ffffff"/>
              </a:solidFill>
              <a:latin typeface="Arial"/>
            </a:endParaRPr>
          </a:p>
        </p:txBody>
      </p:sp>
      <p:sp>
        <p:nvSpPr>
          <p:cNvPr id="414" name="Text 5"/>
          <p:cNvSpPr/>
          <p:nvPr/>
        </p:nvSpPr>
        <p:spPr>
          <a:xfrm>
            <a:off x="457200" y="694800"/>
            <a:ext cx="8226000" cy="563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pc="-1" strike="noStrike">
                <a:solidFill>
                  <a:srgbClr val="ffffff"/>
                </a:solidFill>
                <a:latin typeface="Arial Black"/>
                <a:ea typeface="Arial Black"/>
              </a:rPr>
              <a:t>Technology Stack</a:t>
            </a:r>
            <a:endParaRPr b="0" lang="en-US" sz="2600" spc="-1" strike="noStrike">
              <a:solidFill>
                <a:srgbClr val="ffffff"/>
              </a:solidFill>
              <a:latin typeface="Arial"/>
            </a:endParaRPr>
          </a:p>
        </p:txBody>
      </p:sp>
      <p:sp>
        <p:nvSpPr>
          <p:cNvPr id="415" name="Shape 6"/>
          <p:cNvSpPr/>
          <p:nvPr/>
        </p:nvSpPr>
        <p:spPr>
          <a:xfrm>
            <a:off x="475560" y="1298520"/>
            <a:ext cx="453600" cy="37440"/>
          </a:xfrm>
          <a:prstGeom prst="rect">
            <a:avLst/>
          </a:prstGeom>
          <a:solidFill>
            <a:srgbClr val="8b1a2b"/>
          </a:solidFill>
          <a:ln w="0">
            <a:noFill/>
          </a:ln>
        </p:spPr>
        <p:style>
          <a:lnRef idx="0"/>
          <a:fillRef idx="0"/>
          <a:effectRef idx="0"/>
          <a:fontRef idx="minor"/>
        </p:style>
        <p:txBody>
          <a:bodyPr lIns="90000" rIns="90000" tIns="-3960" bIns="-3960" anchor="t">
            <a:noAutofit/>
          </a:bodyPr>
          <a:p>
            <a:pPr>
              <a:lnSpc>
                <a:spcPct val="100000"/>
              </a:lnSpc>
            </a:pPr>
            <a:endParaRPr b="0" lang="en-US" sz="1800" spc="-1" strike="noStrike">
              <a:solidFill>
                <a:srgbClr val="ffffff"/>
              </a:solidFill>
              <a:latin typeface="Arial"/>
            </a:endParaRPr>
          </a:p>
        </p:txBody>
      </p:sp>
      <p:sp>
        <p:nvSpPr>
          <p:cNvPr id="416" name="Shape 7"/>
          <p:cNvSpPr/>
          <p:nvPr/>
        </p:nvSpPr>
        <p:spPr>
          <a:xfrm>
            <a:off x="457200" y="1600200"/>
            <a:ext cx="1569240" cy="31968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7" name="Shape 8"/>
          <p:cNvSpPr/>
          <p:nvPr/>
        </p:nvSpPr>
        <p:spPr>
          <a:xfrm>
            <a:off x="457200" y="1600200"/>
            <a:ext cx="15692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418" name="Text 9"/>
          <p:cNvSpPr/>
          <p:nvPr/>
        </p:nvSpPr>
        <p:spPr>
          <a:xfrm>
            <a:off x="567000" y="1764720"/>
            <a:ext cx="1349640" cy="40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3b82f6"/>
                </a:solidFill>
                <a:latin typeface="Arial"/>
                <a:ea typeface="Arial"/>
              </a:rPr>
              <a:t>Frontend</a:t>
            </a:r>
            <a:endParaRPr b="0" lang="en-US" sz="1200" spc="-1" strike="noStrike">
              <a:solidFill>
                <a:srgbClr val="ffffff"/>
              </a:solidFill>
              <a:latin typeface="Arial"/>
            </a:endParaRPr>
          </a:p>
        </p:txBody>
      </p:sp>
      <p:sp>
        <p:nvSpPr>
          <p:cNvPr id="419" name="Text 10"/>
          <p:cNvSpPr/>
          <p:nvPr/>
        </p:nvSpPr>
        <p:spPr>
          <a:xfrm>
            <a:off x="567000" y="2286000"/>
            <a:ext cx="1349640" cy="232812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950" spc="-1" strike="noStrike">
                <a:solidFill>
                  <a:srgbClr val="94a3b8"/>
                </a:solidFill>
                <a:latin typeface="Arial"/>
                <a:ea typeface="Arial"/>
              </a:rPr>
              <a:t>HTML5</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CSS3</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JavaScript (ES Modules)</a:t>
            </a:r>
            <a:endParaRPr b="0" lang="en-US" sz="950" spc="-1" strike="noStrike">
              <a:solidFill>
                <a:srgbClr val="ffffff"/>
              </a:solidFill>
              <a:latin typeface="Arial"/>
            </a:endParaRPr>
          </a:p>
        </p:txBody>
      </p:sp>
      <p:sp>
        <p:nvSpPr>
          <p:cNvPr id="420" name="Shape 11"/>
          <p:cNvSpPr/>
          <p:nvPr/>
        </p:nvSpPr>
        <p:spPr>
          <a:xfrm>
            <a:off x="2121480" y="1600200"/>
            <a:ext cx="1569240" cy="31968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1" name="Shape 12"/>
          <p:cNvSpPr/>
          <p:nvPr/>
        </p:nvSpPr>
        <p:spPr>
          <a:xfrm>
            <a:off x="2121480" y="1600200"/>
            <a:ext cx="1569240" cy="28440"/>
          </a:xfrm>
          <a:prstGeom prst="rect">
            <a:avLst/>
          </a:prstGeom>
          <a:solidFill>
            <a:srgbClr val="22c55e"/>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422" name="Text 13"/>
          <p:cNvSpPr/>
          <p:nvPr/>
        </p:nvSpPr>
        <p:spPr>
          <a:xfrm>
            <a:off x="2231280" y="1764720"/>
            <a:ext cx="1349640" cy="40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22c55e"/>
                </a:solidFill>
                <a:latin typeface="Arial"/>
                <a:ea typeface="Arial"/>
              </a:rPr>
              <a:t>Backend / Auth</a:t>
            </a:r>
            <a:endParaRPr b="0" lang="en-US" sz="1200" spc="-1" strike="noStrike">
              <a:solidFill>
                <a:srgbClr val="ffffff"/>
              </a:solidFill>
              <a:latin typeface="Arial"/>
            </a:endParaRPr>
          </a:p>
        </p:txBody>
      </p:sp>
      <p:sp>
        <p:nvSpPr>
          <p:cNvPr id="423" name="Text 14"/>
          <p:cNvSpPr/>
          <p:nvPr/>
        </p:nvSpPr>
        <p:spPr>
          <a:xfrm>
            <a:off x="2231280" y="2286000"/>
            <a:ext cx="1349640" cy="232812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950" spc="-1" strike="noStrike">
                <a:solidFill>
                  <a:srgbClr val="94a3b8"/>
                </a:solidFill>
                <a:latin typeface="Arial"/>
                <a:ea typeface="Arial"/>
              </a:rPr>
              <a:t>Firebase Authentication</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Cloud Firestore</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Firebase Admin</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Firestore Rules</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AI rate limiting</a:t>
            </a:r>
            <a:endParaRPr b="0" lang="en-US" sz="950" spc="-1" strike="noStrike">
              <a:solidFill>
                <a:srgbClr val="ffffff"/>
              </a:solidFill>
              <a:latin typeface="Arial"/>
            </a:endParaRPr>
          </a:p>
        </p:txBody>
      </p:sp>
      <p:sp>
        <p:nvSpPr>
          <p:cNvPr id="424" name="Shape 15"/>
          <p:cNvSpPr/>
          <p:nvPr/>
        </p:nvSpPr>
        <p:spPr>
          <a:xfrm>
            <a:off x="3785760" y="1600200"/>
            <a:ext cx="1569240" cy="31968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5" name="Shape 16"/>
          <p:cNvSpPr/>
          <p:nvPr/>
        </p:nvSpPr>
        <p:spPr>
          <a:xfrm>
            <a:off x="3785760" y="1600200"/>
            <a:ext cx="1569240" cy="28440"/>
          </a:xfrm>
          <a:prstGeom prst="rect">
            <a:avLst/>
          </a:prstGeom>
          <a:solidFill>
            <a:srgbClr val="f59e0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000000"/>
              </a:solidFill>
              <a:latin typeface="Arial"/>
            </a:endParaRPr>
          </a:p>
        </p:txBody>
      </p:sp>
      <p:sp>
        <p:nvSpPr>
          <p:cNvPr id="426" name="Text 17"/>
          <p:cNvSpPr/>
          <p:nvPr/>
        </p:nvSpPr>
        <p:spPr>
          <a:xfrm>
            <a:off x="3895200" y="1764720"/>
            <a:ext cx="1349640" cy="40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f59e0b"/>
                </a:solidFill>
                <a:latin typeface="Arial"/>
                <a:ea typeface="Arial"/>
              </a:rPr>
              <a:t>AI</a:t>
            </a:r>
            <a:endParaRPr b="0" lang="en-US" sz="1200" spc="-1" strike="noStrike">
              <a:solidFill>
                <a:srgbClr val="ffffff"/>
              </a:solidFill>
              <a:latin typeface="Arial"/>
            </a:endParaRPr>
          </a:p>
        </p:txBody>
      </p:sp>
      <p:sp>
        <p:nvSpPr>
          <p:cNvPr id="427" name="Text 18"/>
          <p:cNvSpPr/>
          <p:nvPr/>
        </p:nvSpPr>
        <p:spPr>
          <a:xfrm>
            <a:off x="3895200" y="2286000"/>
            <a:ext cx="1349640" cy="232812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950" spc="-1" strike="noStrike">
                <a:solidFill>
                  <a:srgbClr val="94a3b8"/>
                </a:solidFill>
                <a:latin typeface="Arial"/>
                <a:ea typeface="Arial"/>
              </a:rPr>
              <a:t>Google Gemini API</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via secure server endpoint</a:t>
            </a:r>
            <a:endParaRPr b="0" lang="en-US" sz="950" spc="-1" strike="noStrike">
              <a:solidFill>
                <a:srgbClr val="ffffff"/>
              </a:solidFill>
              <a:latin typeface="Arial"/>
            </a:endParaRPr>
          </a:p>
        </p:txBody>
      </p:sp>
      <p:sp>
        <p:nvSpPr>
          <p:cNvPr id="428" name="Shape 19"/>
          <p:cNvSpPr/>
          <p:nvPr/>
        </p:nvSpPr>
        <p:spPr>
          <a:xfrm>
            <a:off x="5449680" y="1600200"/>
            <a:ext cx="1569240" cy="31968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9" name="Shape 20"/>
          <p:cNvSpPr/>
          <p:nvPr/>
        </p:nvSpPr>
        <p:spPr>
          <a:xfrm>
            <a:off x="5449680" y="1600200"/>
            <a:ext cx="1569240" cy="28440"/>
          </a:xfrm>
          <a:prstGeom prst="rect">
            <a:avLst/>
          </a:prstGeom>
          <a:solidFill>
            <a:srgbClr val="8b1a2b"/>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430" name="Text 21"/>
          <p:cNvSpPr/>
          <p:nvPr/>
        </p:nvSpPr>
        <p:spPr>
          <a:xfrm>
            <a:off x="5559480" y="1764720"/>
            <a:ext cx="1349640" cy="40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8b1a2b"/>
                </a:solidFill>
                <a:latin typeface="Arial"/>
                <a:ea typeface="Arial"/>
              </a:rPr>
              <a:t>Testing</a:t>
            </a:r>
            <a:endParaRPr b="0" lang="en-US" sz="1200" spc="-1" strike="noStrike">
              <a:solidFill>
                <a:srgbClr val="ffffff"/>
              </a:solidFill>
              <a:latin typeface="Arial"/>
            </a:endParaRPr>
          </a:p>
        </p:txBody>
      </p:sp>
      <p:sp>
        <p:nvSpPr>
          <p:cNvPr id="431" name="Text 22"/>
          <p:cNvSpPr/>
          <p:nvPr/>
        </p:nvSpPr>
        <p:spPr>
          <a:xfrm>
            <a:off x="5559480" y="2286000"/>
            <a:ext cx="1349640" cy="232812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950" spc="-1" strike="noStrike">
                <a:solidFill>
                  <a:srgbClr val="94a3b8"/>
                </a:solidFill>
                <a:latin typeface="Arial"/>
                <a:ea typeface="Arial"/>
              </a:rPr>
              <a:t>Jest</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131 tests · 11 suites</a:t>
            </a:r>
            <a:endParaRPr b="0" lang="en-US" sz="950" spc="-1" strike="noStrike">
              <a:solidFill>
                <a:srgbClr val="ffffff"/>
              </a:solidFill>
              <a:latin typeface="Arial"/>
            </a:endParaRPr>
          </a:p>
        </p:txBody>
      </p:sp>
      <p:sp>
        <p:nvSpPr>
          <p:cNvPr id="432" name="Shape 23"/>
          <p:cNvSpPr/>
          <p:nvPr/>
        </p:nvSpPr>
        <p:spPr>
          <a:xfrm>
            <a:off x="7113960" y="1600200"/>
            <a:ext cx="1569240" cy="3196800"/>
          </a:xfrm>
          <a:prstGeom prst="rect">
            <a:avLst/>
          </a:prstGeom>
          <a:solidFill>
            <a:srgbClr val="132038"/>
          </a:solidFill>
          <a:ln w="9525">
            <a:solidFill>
              <a:srgbClr val="2a3f7a"/>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3" name="Shape 24"/>
          <p:cNvSpPr/>
          <p:nvPr/>
        </p:nvSpPr>
        <p:spPr>
          <a:xfrm>
            <a:off x="7113960" y="1600200"/>
            <a:ext cx="1569240" cy="28440"/>
          </a:xfrm>
          <a:prstGeom prst="rect">
            <a:avLst/>
          </a:prstGeom>
          <a:solidFill>
            <a:srgbClr val="3b82f6"/>
          </a:solidFill>
          <a:ln w="0">
            <a:noFill/>
          </a:ln>
        </p:spPr>
        <p:style>
          <a:lnRef idx="0"/>
          <a:fillRef idx="0"/>
          <a:effectRef idx="0"/>
          <a:fontRef idx="minor"/>
        </p:style>
        <p:txBody>
          <a:bodyPr lIns="90000" rIns="90000" tIns="-12960" bIns="-12960" anchor="t">
            <a:noAutofit/>
          </a:bodyPr>
          <a:p>
            <a:pPr>
              <a:lnSpc>
                <a:spcPct val="100000"/>
              </a:lnSpc>
            </a:pPr>
            <a:endParaRPr b="0" lang="en-US" sz="1800" spc="-1" strike="noStrike">
              <a:solidFill>
                <a:srgbClr val="ffffff"/>
              </a:solidFill>
              <a:latin typeface="Arial"/>
            </a:endParaRPr>
          </a:p>
        </p:txBody>
      </p:sp>
      <p:sp>
        <p:nvSpPr>
          <p:cNvPr id="434" name="Text 25"/>
          <p:cNvSpPr/>
          <p:nvPr/>
        </p:nvSpPr>
        <p:spPr>
          <a:xfrm>
            <a:off x="7223760" y="1764720"/>
            <a:ext cx="1349640" cy="40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3b82f6"/>
                </a:solidFill>
                <a:latin typeface="Arial"/>
                <a:ea typeface="Arial"/>
              </a:rPr>
              <a:t>Hosting</a:t>
            </a:r>
            <a:endParaRPr b="0" lang="en-US" sz="1200" spc="-1" strike="noStrike">
              <a:solidFill>
                <a:srgbClr val="ffffff"/>
              </a:solidFill>
              <a:latin typeface="Arial"/>
            </a:endParaRPr>
          </a:p>
        </p:txBody>
      </p:sp>
      <p:sp>
        <p:nvSpPr>
          <p:cNvPr id="435" name="Text 26"/>
          <p:cNvSpPr/>
          <p:nvPr/>
        </p:nvSpPr>
        <p:spPr>
          <a:xfrm>
            <a:off x="7223760" y="2286000"/>
            <a:ext cx="1349640" cy="232812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799"/>
              </a:spcAft>
              <a:tabLst>
                <a:tab algn="l" pos="0"/>
              </a:tabLst>
            </a:pPr>
            <a:r>
              <a:rPr b="0" lang="en-US" sz="950" spc="-1" strike="noStrike">
                <a:solidFill>
                  <a:srgbClr val="94a3b8"/>
                </a:solidFill>
                <a:latin typeface="Arial"/>
                <a:ea typeface="Arial"/>
              </a:rPr>
              <a:t>GitHub</a:t>
            </a:r>
            <a:endParaRPr b="0" lang="en-US" sz="950" spc="-1" strike="noStrike">
              <a:solidFill>
                <a:srgbClr val="ffffff"/>
              </a:solidFill>
              <a:latin typeface="Arial"/>
            </a:endParaRPr>
          </a:p>
          <a:p>
            <a:pPr defTabSz="914400">
              <a:lnSpc>
                <a:spcPct val="100000"/>
              </a:lnSpc>
              <a:spcAft>
                <a:spcPts val="799"/>
              </a:spcAft>
              <a:tabLst>
                <a:tab algn="l" pos="0"/>
              </a:tabLst>
            </a:pPr>
            <a:r>
              <a:rPr b="0" lang="en-US" sz="950" spc="-1" strike="noStrike">
                <a:solidFill>
                  <a:srgbClr val="94a3b8"/>
                </a:solidFill>
                <a:latin typeface="Arial"/>
                <a:ea typeface="Arial"/>
              </a:rPr>
              <a:t>WebDev public deployment</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0e1c"/>
        </a:solidFill>
      </p:bgPr>
    </p:bg>
    <p:spTree>
      <p:nvGrpSpPr>
        <p:cNvPr id="1" name=""/>
        <p:cNvGrpSpPr/>
        <p:nvPr/>
      </p:nvGrpSpPr>
      <p:grpSpPr>
        <a:xfrm>
          <a:off x="0" y="0"/>
          <a:ext cx="0" cy="0"/>
          <a:chOff x="0" y="0"/>
          <a:chExt cx="0" cy="0"/>
        </a:xfrm>
      </p:grpSpPr>
      <p:sp>
        <p:nvSpPr>
          <p:cNvPr id="436" name="Shape 0"/>
          <p:cNvSpPr/>
          <p:nvPr/>
        </p:nvSpPr>
        <p:spPr>
          <a:xfrm>
            <a:off x="0" y="0"/>
            <a:ext cx="9140400" cy="96840"/>
          </a:xfrm>
          <a:prstGeom prst="rect">
            <a:avLst/>
          </a:prstGeom>
          <a:solidFill>
            <a:srgbClr val="1e2d5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7" name="Shape 1"/>
          <p:cNvSpPr/>
          <p:nvPr/>
        </p:nvSpPr>
        <p:spPr>
          <a:xfrm>
            <a:off x="0" y="5120640"/>
            <a:ext cx="9140400" cy="19440"/>
          </a:xfrm>
          <a:prstGeom prst="rect">
            <a:avLst/>
          </a:prstGeom>
          <a:solidFill>
            <a:srgbClr val="8b1a2b"/>
          </a:solidFill>
          <a:ln w="0">
            <a:noFill/>
          </a:ln>
        </p:spPr>
        <p:style>
          <a:lnRef idx="0"/>
          <a:fillRef idx="0"/>
          <a:effectRef idx="0"/>
          <a:fontRef idx="minor"/>
        </p:style>
        <p:txBody>
          <a:bodyPr lIns="90000" rIns="90000" tIns="-21960" bIns="-21960" anchor="t">
            <a:noAutofit/>
          </a:bodyPr>
          <a:p>
            <a:pPr>
              <a:lnSpc>
                <a:spcPct val="100000"/>
              </a:lnSpc>
            </a:pPr>
            <a:endParaRPr b="0" lang="en-US" sz="1800" spc="-1" strike="noStrike">
              <a:solidFill>
                <a:srgbClr val="ffffff"/>
              </a:solidFill>
              <a:latin typeface="Arial"/>
            </a:endParaRPr>
          </a:p>
        </p:txBody>
      </p:sp>
      <p:pic>
        <p:nvPicPr>
          <p:cNvPr id="438" name="Image 0" descr="/home/claude/build/logo.png"/>
          <p:cNvPicPr/>
          <p:nvPr/>
        </p:nvPicPr>
        <p:blipFill>
          <a:blip r:embed="rId1"/>
          <a:stretch/>
        </p:blipFill>
        <p:spPr>
          <a:xfrm>
            <a:off x="457200" y="411480"/>
            <a:ext cx="563400" cy="453600"/>
          </a:xfrm>
          <a:prstGeom prst="rect">
            <a:avLst/>
          </a:prstGeom>
          <a:ln w="0">
            <a:noFill/>
          </a:ln>
        </p:spPr>
      </p:pic>
      <p:sp>
        <p:nvSpPr>
          <p:cNvPr id="439" name="Text 2"/>
          <p:cNvSpPr/>
          <p:nvPr/>
        </p:nvSpPr>
        <p:spPr>
          <a:xfrm>
            <a:off x="1143000" y="42984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Arial"/>
                <a:ea typeface="Arial"/>
              </a:rPr>
              <a:t>NetXpert AI</a:t>
            </a:r>
            <a:endParaRPr b="0" lang="en-US" sz="1300" spc="-1" strike="noStrike">
              <a:solidFill>
                <a:srgbClr val="ffffff"/>
              </a:solidFill>
              <a:latin typeface="Arial"/>
            </a:endParaRPr>
          </a:p>
        </p:txBody>
      </p:sp>
      <p:sp>
        <p:nvSpPr>
          <p:cNvPr id="440" name="Text 3"/>
          <p:cNvSpPr/>
          <p:nvPr/>
        </p:nvSpPr>
        <p:spPr>
          <a:xfrm>
            <a:off x="1143000" y="685800"/>
            <a:ext cx="4568400" cy="197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pc="-1" strike="noStrike">
                <a:solidFill>
                  <a:srgbClr val="94a3b8"/>
                </a:solidFill>
                <a:latin typeface="Arial"/>
                <a:ea typeface="Arial"/>
              </a:rPr>
              <a:t>Personalized Practice, Powered by AI</a:t>
            </a:r>
            <a:endParaRPr b="0" lang="en-US" sz="900" spc="-1" strike="noStrike">
              <a:solidFill>
                <a:srgbClr val="ffffff"/>
              </a:solidFill>
              <a:latin typeface="Arial"/>
            </a:endParaRPr>
          </a:p>
        </p:txBody>
      </p:sp>
      <p:sp>
        <p:nvSpPr>
          <p:cNvPr id="441" name="Text 4"/>
          <p:cNvSpPr/>
          <p:nvPr/>
        </p:nvSpPr>
        <p:spPr>
          <a:xfrm>
            <a:off x="457200" y="1554480"/>
            <a:ext cx="8226000" cy="91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4600" spc="-1" strike="noStrike">
                <a:solidFill>
                  <a:srgbClr val="ffffff"/>
                </a:solidFill>
                <a:latin typeface="Arial Black"/>
                <a:ea typeface="Arial Black"/>
              </a:rPr>
              <a:t>Thank You</a:t>
            </a:r>
            <a:endParaRPr b="0" lang="en-US" sz="4600" spc="-1" strike="noStrike">
              <a:solidFill>
                <a:srgbClr val="ffffff"/>
              </a:solidFill>
              <a:latin typeface="Arial"/>
            </a:endParaRPr>
          </a:p>
        </p:txBody>
      </p:sp>
      <p:sp>
        <p:nvSpPr>
          <p:cNvPr id="442" name="Text 5"/>
          <p:cNvSpPr/>
          <p:nvPr/>
        </p:nvSpPr>
        <p:spPr>
          <a:xfrm>
            <a:off x="457200" y="2377440"/>
            <a:ext cx="8226000" cy="36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500" spc="-1" strike="noStrike">
                <a:solidFill>
                  <a:srgbClr val="a8c4e0"/>
                </a:solidFill>
                <a:latin typeface="Arial"/>
                <a:ea typeface="Arial"/>
              </a:rPr>
              <a:t>Questions &amp; Live Demo</a:t>
            </a:r>
            <a:endParaRPr b="0" lang="en-US" sz="1500" spc="-1" strike="noStrike">
              <a:solidFill>
                <a:srgbClr val="ffffff"/>
              </a:solidFill>
              <a:latin typeface="Arial"/>
            </a:endParaRPr>
          </a:p>
        </p:txBody>
      </p:sp>
      <p:sp>
        <p:nvSpPr>
          <p:cNvPr id="443" name="Text 6"/>
          <p:cNvSpPr/>
          <p:nvPr/>
        </p:nvSpPr>
        <p:spPr>
          <a:xfrm>
            <a:off x="457200" y="2788920"/>
            <a:ext cx="82260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80" strike="noStrike">
                <a:solidFill>
                  <a:srgbClr val="8b1a2b"/>
                </a:solidFill>
                <a:latin typeface="Arial"/>
                <a:ea typeface="Arial"/>
              </a:rPr>
              <a:t>SMARTER PRACTICE. STRONGER NETWORKING SKILLS.</a:t>
            </a:r>
            <a:endParaRPr b="0" lang="en-US" sz="1100" spc="-1" strike="noStrike">
              <a:solidFill>
                <a:srgbClr val="ffffff"/>
              </a:solidFill>
              <a:latin typeface="Arial"/>
            </a:endParaRPr>
          </a:p>
        </p:txBody>
      </p:sp>
      <p:sp>
        <p:nvSpPr>
          <p:cNvPr id="444" name="Shape 7"/>
          <p:cNvSpPr/>
          <p:nvPr/>
        </p:nvSpPr>
        <p:spPr>
          <a:xfrm>
            <a:off x="457200" y="3291840"/>
            <a:ext cx="8229600" cy="360"/>
          </a:xfrm>
          <a:prstGeom prst="line">
            <a:avLst/>
          </a:prstGeom>
          <a:ln w="9525">
            <a:solidFill>
              <a:srgbClr val="2a3f7a"/>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45" name="Text 8"/>
          <p:cNvSpPr/>
          <p:nvPr/>
        </p:nvSpPr>
        <p:spPr>
          <a:xfrm>
            <a:off x="457200" y="3429000"/>
            <a:ext cx="4568400" cy="216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72" strike="noStrike">
                <a:solidFill>
                  <a:srgbClr val="64748b"/>
                </a:solidFill>
                <a:latin typeface="Arial"/>
                <a:ea typeface="Arial"/>
              </a:rPr>
              <a:t>DEVELOPMENT TEAM</a:t>
            </a:r>
            <a:endParaRPr b="0" lang="en-US" sz="900" spc="-1" strike="noStrike">
              <a:solidFill>
                <a:srgbClr val="ffffff"/>
              </a:solidFill>
              <a:latin typeface="Arial"/>
            </a:endParaRPr>
          </a:p>
        </p:txBody>
      </p:sp>
      <p:sp>
        <p:nvSpPr>
          <p:cNvPr id="446" name="Text 9"/>
          <p:cNvSpPr/>
          <p:nvPr/>
        </p:nvSpPr>
        <p:spPr>
          <a:xfrm>
            <a:off x="457200" y="3639240"/>
            <a:ext cx="4568400" cy="270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ffffff"/>
                </a:solidFill>
                <a:latin typeface="Arial"/>
                <a:ea typeface="Arial"/>
              </a:rPr>
              <a:t>Mohammad Alrjo</a:t>
            </a:r>
            <a:endParaRPr b="0" lang="en-US" sz="1200" spc="-1" strike="noStrike">
              <a:solidFill>
                <a:srgbClr val="ffffff"/>
              </a:solidFill>
              <a:latin typeface="Arial"/>
            </a:endParaRPr>
          </a:p>
        </p:txBody>
      </p:sp>
      <p:sp>
        <p:nvSpPr>
          <p:cNvPr id="447" name="Text 10"/>
          <p:cNvSpPr/>
          <p:nvPr/>
        </p:nvSpPr>
        <p:spPr>
          <a:xfrm>
            <a:off x="457200" y="3913560"/>
            <a:ext cx="4568400" cy="252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a8c4e0"/>
                </a:solidFill>
                <a:latin typeface="Arial"/>
                <a:ea typeface="Arial"/>
              </a:rPr>
              <a:t>Supervisor: __________________</a:t>
            </a:r>
            <a:endParaRPr b="0" lang="en-US" sz="1050" spc="-1" strike="noStrike">
              <a:solidFill>
                <a:srgbClr val="ffffff"/>
              </a:solidFill>
              <a:latin typeface="Arial"/>
            </a:endParaRPr>
          </a:p>
        </p:txBody>
      </p:sp>
      <p:sp>
        <p:nvSpPr>
          <p:cNvPr id="448" name="Text 11"/>
          <p:cNvSpPr/>
          <p:nvPr/>
        </p:nvSpPr>
        <p:spPr>
          <a:xfrm>
            <a:off x="457200" y="4279320"/>
            <a:ext cx="77688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Live site:  netxpertai-advcdzc4.manus.space</a:t>
            </a:r>
            <a:endParaRPr b="0" lang="en-US" sz="1000" spc="-1" strike="noStrike">
              <a:solidFill>
                <a:srgbClr val="ffffff"/>
              </a:solidFill>
              <a:latin typeface="Arial"/>
            </a:endParaRPr>
          </a:p>
        </p:txBody>
      </p:sp>
      <p:sp>
        <p:nvSpPr>
          <p:cNvPr id="449" name="Text 12"/>
          <p:cNvSpPr/>
          <p:nvPr/>
        </p:nvSpPr>
        <p:spPr>
          <a:xfrm>
            <a:off x="457200" y="4498920"/>
            <a:ext cx="7768800" cy="23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pc="-1" strike="noStrike">
                <a:solidFill>
                  <a:srgbClr val="94a3b8"/>
                </a:solidFill>
                <a:latin typeface="Arial"/>
                <a:ea typeface="Arial"/>
              </a:rPr>
              <a:t>Source:  github.com/za489538-prog/netxpert-ai</a:t>
            </a:r>
            <a:endParaRPr b="0" lang="en-US" sz="1000" spc="-1" strike="noStrike">
              <a:solidFill>
                <a:srgbClr val="ffffff"/>
              </a:solidFill>
              <a:latin typeface="Arial"/>
            </a:endParaRPr>
          </a:p>
        </p:txBody>
      </p:sp>
      <p:sp>
        <p:nvSpPr>
          <p:cNvPr id="450" name="Shape 13"/>
          <p:cNvSpPr/>
          <p:nvPr/>
        </p:nvSpPr>
        <p:spPr>
          <a:xfrm>
            <a:off x="457200" y="4827960"/>
            <a:ext cx="1230840" cy="289080"/>
          </a:xfrm>
          <a:prstGeom prst="roundRect">
            <a:avLst>
              <a:gd name="adj" fmla="val 50000"/>
            </a:avLst>
          </a:prstGeom>
          <a:solidFill>
            <a:srgbClr val="2a3f7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1" name="Text 14"/>
          <p:cNvSpPr/>
          <p:nvPr/>
        </p:nvSpPr>
        <p:spPr>
          <a:xfrm>
            <a:off x="45720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HTML5</a:t>
            </a:r>
            <a:endParaRPr b="0" lang="en-US" sz="850" spc="-1" strike="noStrike">
              <a:solidFill>
                <a:srgbClr val="ffffff"/>
              </a:solidFill>
              <a:latin typeface="Arial"/>
            </a:endParaRPr>
          </a:p>
        </p:txBody>
      </p:sp>
      <p:sp>
        <p:nvSpPr>
          <p:cNvPr id="452" name="Shape 15"/>
          <p:cNvSpPr/>
          <p:nvPr/>
        </p:nvSpPr>
        <p:spPr>
          <a:xfrm>
            <a:off x="1783080" y="4827960"/>
            <a:ext cx="1230840" cy="289080"/>
          </a:xfrm>
          <a:prstGeom prst="roundRect">
            <a:avLst>
              <a:gd name="adj" fmla="val 50000"/>
            </a:avLst>
          </a:prstGeom>
          <a:solidFill>
            <a:srgbClr val="2a3f7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3" name="Text 16"/>
          <p:cNvSpPr/>
          <p:nvPr/>
        </p:nvSpPr>
        <p:spPr>
          <a:xfrm>
            <a:off x="178308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JS</a:t>
            </a:r>
            <a:endParaRPr b="0" lang="en-US" sz="850" spc="-1" strike="noStrike">
              <a:solidFill>
                <a:srgbClr val="ffffff"/>
              </a:solidFill>
              <a:latin typeface="Arial"/>
            </a:endParaRPr>
          </a:p>
        </p:txBody>
      </p:sp>
      <p:sp>
        <p:nvSpPr>
          <p:cNvPr id="454" name="Shape 17"/>
          <p:cNvSpPr/>
          <p:nvPr/>
        </p:nvSpPr>
        <p:spPr>
          <a:xfrm>
            <a:off x="3108960" y="4827960"/>
            <a:ext cx="1230840" cy="289080"/>
          </a:xfrm>
          <a:prstGeom prst="roundRect">
            <a:avLst>
              <a:gd name="adj" fmla="val 50000"/>
            </a:avLst>
          </a:prstGeom>
          <a:solidFill>
            <a:srgbClr val="22c55e"/>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5" name="Text 18"/>
          <p:cNvSpPr/>
          <p:nvPr/>
        </p:nvSpPr>
        <p:spPr>
          <a:xfrm>
            <a:off x="310896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FIREBASE</a:t>
            </a:r>
            <a:endParaRPr b="0" lang="en-US" sz="850" spc="-1" strike="noStrike">
              <a:solidFill>
                <a:srgbClr val="ffffff"/>
              </a:solidFill>
              <a:latin typeface="Arial"/>
            </a:endParaRPr>
          </a:p>
        </p:txBody>
      </p:sp>
      <p:sp>
        <p:nvSpPr>
          <p:cNvPr id="456" name="Shape 19"/>
          <p:cNvSpPr/>
          <p:nvPr/>
        </p:nvSpPr>
        <p:spPr>
          <a:xfrm>
            <a:off x="4434840" y="4827960"/>
            <a:ext cx="1230840" cy="289080"/>
          </a:xfrm>
          <a:prstGeom prst="roundRect">
            <a:avLst>
              <a:gd name="adj" fmla="val 50000"/>
            </a:avLst>
          </a:prstGeom>
          <a:solidFill>
            <a:srgbClr val="3b82f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7" name="Text 20"/>
          <p:cNvSpPr/>
          <p:nvPr/>
        </p:nvSpPr>
        <p:spPr>
          <a:xfrm>
            <a:off x="443484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WEBDEV</a:t>
            </a:r>
            <a:endParaRPr b="0" lang="en-US" sz="850" spc="-1" strike="noStrike">
              <a:solidFill>
                <a:srgbClr val="ffffff"/>
              </a:solidFill>
              <a:latin typeface="Arial"/>
            </a:endParaRPr>
          </a:p>
        </p:txBody>
      </p:sp>
      <p:sp>
        <p:nvSpPr>
          <p:cNvPr id="458" name="Shape 21"/>
          <p:cNvSpPr/>
          <p:nvPr/>
        </p:nvSpPr>
        <p:spPr>
          <a:xfrm>
            <a:off x="5760720" y="4827960"/>
            <a:ext cx="1230840" cy="289080"/>
          </a:xfrm>
          <a:prstGeom prst="roundRect">
            <a:avLst>
              <a:gd name="adj" fmla="val 50000"/>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9" name="Text 22"/>
          <p:cNvSpPr/>
          <p:nvPr/>
        </p:nvSpPr>
        <p:spPr>
          <a:xfrm>
            <a:off x="576072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GEMINI API</a:t>
            </a:r>
            <a:endParaRPr b="0" lang="en-US" sz="850" spc="-1" strike="noStrike">
              <a:solidFill>
                <a:srgbClr val="ffffff"/>
              </a:solidFill>
              <a:latin typeface="Arial"/>
            </a:endParaRPr>
          </a:p>
        </p:txBody>
      </p:sp>
      <p:sp>
        <p:nvSpPr>
          <p:cNvPr id="460" name="Shape 23"/>
          <p:cNvSpPr/>
          <p:nvPr/>
        </p:nvSpPr>
        <p:spPr>
          <a:xfrm>
            <a:off x="7086600" y="4827960"/>
            <a:ext cx="1230840" cy="289080"/>
          </a:xfrm>
          <a:prstGeom prst="roundRect">
            <a:avLst>
              <a:gd name="adj" fmla="val 50000"/>
            </a:avLst>
          </a:prstGeom>
          <a:solidFill>
            <a:srgbClr val="8b1a2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1" name="Text 24"/>
          <p:cNvSpPr/>
          <p:nvPr/>
        </p:nvSpPr>
        <p:spPr>
          <a:xfrm>
            <a:off x="7086600" y="4827960"/>
            <a:ext cx="1230840" cy="289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850" spc="-1" strike="noStrike">
                <a:solidFill>
                  <a:srgbClr val="ffffff"/>
                </a:solidFill>
                <a:latin typeface="Arial"/>
                <a:ea typeface="Arial"/>
              </a:rPr>
              <a:t>JEST</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2026-09-07T19:55:25Z</dcterms:created>
  <dc:creator>PptxGenJS</dc:creator>
  <dc:description/>
  <dc:language>en-US</dc:language>
  <cp:lastModifiedBy/>
  <dcterms:modified xsi:type="dcterms:W3CDTF">2026-09-08T22:20:14Z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